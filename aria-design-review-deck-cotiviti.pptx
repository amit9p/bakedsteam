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sign review" id="{734ff543-e753-4c6a-e4fc-1a034d8c7165}">
          <p14:sldIdLst>
            <p14:sldId id="256"/>
            <p14:sldId id="257"/>
            <p14:sldId id="258"/>
            <p14:sldId id="259"/>
            <p14:sldId id="260"/>
            <p14:sldId id="261"/>
            <p14:sldId id="262"/>
          </p14:sldIdLst>
        </p14:section>
        <p14:section name="Appendix" id="{0a0b6409-d7fb-df99-2744-a70c9f3326e6}">
          <p14:sldIdLst>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weeks in. I've read the Agentic Hub design pages and sat with CIS twice. This is the data view of ARIA: the Agentic Hub architecture page says who computes what; this says where everything lives, who writes it, how it is versioned and replayed. I need four decisions by the end; I'll show them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I'm new to healthcare; this is the one picture I use. Chart to codes to HCC to payment, and the audit years later. The audit is why every decision needs proof. Then what a recommendation is, and the pilot scope.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handoff as CIS sees it, and it is right: CIS sends a file, gets a file back. Nothing here changes. The next slide is the same picture with one addition.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hub is not a detour for the chart. It is where the record lives. Five things only a record gives: read the five headings. The platform owner's own sentence at the bottom. And what the hub does not do, so nobody thinks we're taking on NLP quality or the policy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it in three passes. Numbers, one chart: CIS drops a ZIP, we keep it as received, clean it into six CCDM tables, the abstractor builds the truth graph, the auditor runs six gates with the active rules from PRM, gold stores the determination, a results file goes back, the coder decides, decisions and evaluation stored. Letters, one guideline: PDF into PRM, P2L drafts, snapshot stored, checks, coders review in CIS's screen through PRM's API, revise, promote, the auditor uses it; we copy PRM nightly. Two doors: lookup for reference data, explain for 'why this code'. Then the lanes: CIS is external; the hub is ours; the components belong to the Agentic Hub platform and PRM runs in its account; the bottom lane is the stores. Tags: built, POC, new,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Fixed either way: CIS is on AWS, the Agentic Hub components on Kubernetes on AWS, PRM is Postgres + S3, GCP has no environment yet. Two options, row by row, as facts not a pitch. Then hand it to the platform teams: this is their call. If asked for my view: the pipeline exists on Databricks and the data layer carries over, so I would not rebuild for slice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decisions, not on unknowns. Read the four. Then the open items with the platform owner and CIS, which don't need this room but I want visible. Ask for the platform call first; the other three follow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DARK-image-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LIGHT-image-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7772400" cy="118872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3" name="Text 0"/>
          <p:cNvSpPr/>
          <p:nvPr>
            <p:ph idx="101" type="body" hasCustomPrompt="1"/>
          </p:nvPr>
        </p:nvSpPr>
        <p:spPr>
          <a:xfrm>
            <a:off x="548640" y="2103120"/>
            <a:ext cx="7772400" cy="91440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4" name="Text 0"/>
          <p:cNvSpPr/>
          <p:nvPr/>
        </p:nvSpPr>
        <p:spPr>
          <a:xfrm>
            <a:off x="9692640" y="640080"/>
            <a:ext cx="2011680" cy="365760"/>
          </a:xfrm>
          <a:prstGeom prst="rect">
            <a:avLst/>
          </a:prstGeom>
          <a:noFill/>
          <a:ln/>
        </p:spPr>
        <p:txBody>
          <a:bodyPr wrap="square" lIns="0" tIns="0" rIns="0" bIns="0" rtlCol="0" anchor="ctr"/>
          <a:lstStyle/>
          <a:p>
            <a:pPr algn="r" indent="0" marL="0">
              <a:buNone/>
            </a:pPr>
            <a:r>
              <a:rPr lang="en-US" sz="1400" dirty="0">
                <a:solidFill>
                  <a:schemeClr val="tx1"/>
                </a:solidFill>
              </a:rPr>
              <a:t>October 2026</a:t>
            </a:r>
            <a:endParaRPr lang="en-US" sz="1400" dirty="0"/>
          </a:p>
        </p:txBody>
      </p:sp>
      <p:sp>
        <p:nvSpPr>
          <p:cNvPr id="5" name="Text 1"/>
          <p:cNvSpPr/>
          <p:nvPr/>
        </p:nvSpPr>
        <p:spPr>
          <a:xfrm>
            <a:off x="548640" y="4480560"/>
            <a:ext cx="7315200" cy="365760"/>
          </a:xfrm>
          <a:prstGeom prst="rect">
            <a:avLst/>
          </a:prstGeom>
          <a:noFill/>
          <a:ln/>
        </p:spPr>
        <p:txBody>
          <a:bodyPr wrap="square" lIns="0" tIns="0" rIns="0" bIns="0" rtlCol="0" anchor="ctr"/>
          <a:lstStyle/>
          <a:p>
            <a:pPr indent="0" marL="0">
              <a:buNone/>
            </a:pPr>
            <a:r>
              <a:rPr lang="en-US" sz="1100" dirty="0">
                <a:solidFill>
                  <a:schemeClr val="tx1"/>
                </a:solidFill>
              </a:rPr>
              <a:t>Data Sensitivity Classification: Internal</a:t>
            </a:r>
            <a:endParaRPr lang="en-US" sz="1100" dirty="0"/>
          </a:p>
        </p:txBody>
      </p:sp>
      <p:pic>
        <p:nvPicPr>
          <p:cNvPr id="6" name="Image 0" descr="preencoded.png">    </p:cNvPr>
          <p:cNvPicPr>
            <a:picLocks noChangeAspect="1"/>
          </p:cNvPicPr>
          <p:nvPr/>
        </p:nvPicPr>
        <p:blipFill>
          <a:blip r:embed="rId1"/>
          <a:stretch>
            <a:fillRect/>
          </a:stretch>
        </p:blipFill>
        <p:spPr>
          <a:xfrm>
            <a:off x="548640" y="5669280"/>
            <a:ext cx="2926080" cy="6858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rtlCol="0"/>
          <a:lstStyle>
            <a:lvl1pPr algn="l" indent="0" marL="0">
              <a:buNone/>
              <a:defRPr lang="en-US" sz="2600" dirty="0">
                <a:solidFill>
                  <a:schemeClr val="tx1"/>
                </a:solidFill>
              </a:defRPr>
            </a:lvl1pPr>
          </a:lstStyle>
          <a:p>
            <a:pPr algn="l" indent="0" marL="0">
              <a:buNone/>
            </a:pPr>
            <a:endParaRPr lang="en-US" sz="2600" dirty="0"/>
          </a:p>
        </p:txBody>
      </p:sp>
      <p:sp>
        <p:nvSpPr>
          <p:cNvPr id="3" name="Shape 0"/>
          <p:cNvSpPr/>
          <p:nvPr/>
        </p:nvSpPr>
        <p:spPr>
          <a:xfrm>
            <a:off x="0" y="6446520"/>
            <a:ext cx="12191695" cy="411480"/>
          </a:xfrm>
          <a:prstGeom prst="rect">
            <a:avLst/>
          </a:prstGeom>
          <a:solidFill>
            <a:srgbClr val="1F2A5C"/>
          </a:solidFill>
          <a:ln/>
        </p:spPr>
      </p:sp>
      <p:pic>
        <p:nvPicPr>
          <p:cNvPr id="4" name="Image 0" descr="preencoded.png">    </p:cNvPr>
          <p:cNvPicPr>
            <a:picLocks noChangeAspect="1"/>
          </p:cNvPicPr>
          <p:nvPr/>
        </p:nvPicPr>
        <p:blipFill>
          <a:blip r:embed="rId1"/>
          <a:stretch>
            <a:fillRect/>
          </a:stretch>
        </p:blipFill>
        <p:spPr>
          <a:xfrm>
            <a:off x="457200" y="6519672"/>
            <a:ext cx="1463040" cy="274320"/>
          </a:xfrm>
          <a:prstGeom prst="rect">
            <a:avLst/>
          </a:prstGeom>
        </p:spPr>
      </p:pic>
      <p:sp>
        <p:nvSpPr>
          <p:cNvPr id="5" name="Text 1"/>
          <p:cNvSpPr/>
          <p:nvPr/>
        </p:nvSpPr>
        <p:spPr>
          <a:xfrm>
            <a:off x="2194560" y="6446520"/>
            <a:ext cx="8778240" cy="411480"/>
          </a:xfrm>
          <a:prstGeom prst="rect">
            <a:avLst/>
          </a:prstGeom>
          <a:noFill/>
          <a:ln/>
        </p:spPr>
        <p:txBody>
          <a:bodyPr wrap="square" lIns="0" tIns="0" rIns="0" bIns="0" rtlCol="0" anchor="ctr"/>
          <a:lstStyle/>
          <a:p>
            <a:pPr algn="ctr" indent="0" marL="0">
              <a:buNone/>
            </a:pPr>
            <a:r>
              <a:rPr lang="en-US" sz="800" dirty="0">
                <a:solidFill>
                  <a:srgbClr val="FFFFFF"/>
                </a:solidFill>
              </a:rPr>
              <a:t>© 2026 Cotiviti, Inc. All rights reserved. All proprietary information shall remain the sole and exclusive property of Cotiviti, Inc.</a:t>
            </a:r>
            <a:endParaRPr lang="en-US" sz="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7772400" cy="1188720"/>
          </a:xfrm>
          <a:prstGeom prst="rect">
            <a:avLst/>
          </a:prstGeom>
          <a:noFill/>
          <a:ln/>
        </p:spPr>
        <p:txBody>
          <a:bodyPr wrap="square" lIns="0" tIns="0" rIns="0" bIns="0" rtlCol="0" anchor="b"/>
          <a:lstStyle/>
          <a:p>
            <a:pPr algn="l" indent="0" marL="0">
              <a:buNone/>
            </a:pPr>
            <a:r>
              <a:rPr lang="en-US" sz="4400" b="1" dirty="0">
                <a:solidFill>
                  <a:schemeClr val="tx1"/>
                </a:solidFill>
              </a:rPr>
              <a:t>ARIA data hub</a:t>
            </a:r>
            <a:endParaRPr lang="en-US" sz="4400" dirty="0"/>
          </a:p>
        </p:txBody>
      </p:sp>
      <p:sp>
        <p:nvSpPr>
          <p:cNvPr id="3" name="Text 0"/>
          <p:cNvSpPr/>
          <p:nvPr>
            <p:ph idx="101" type="body" hasCustomPrompt="1"/>
          </p:nvPr>
        </p:nvSpPr>
        <p:spPr>
          <a:xfrm>
            <a:off x="548640" y="2103120"/>
            <a:ext cx="7772400" cy="914400"/>
          </a:xfrm>
          <a:prstGeom prst="rect">
            <a:avLst/>
          </a:prstGeom>
          <a:noFill/>
          <a:ln/>
        </p:spPr>
        <p:txBody>
          <a:bodyPr wrap="square" lIns="0" tIns="0" rIns="0" bIns="0" rtlCol="0" anchor="t"/>
          <a:lstStyle/>
          <a:p>
            <a:pPr algn="l" indent="0" marL="0">
              <a:buNone/>
            </a:pPr>
            <a:r>
              <a:rPr lang="en-US" sz="2000" dirty="0">
                <a:solidFill>
                  <a:schemeClr val="tx1"/>
                </a:solidFill>
              </a:rPr>
              <a:t>Data pipeline design review</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lstStyle/>
          <a:p>
            <a:pPr algn="l" indent="0" marL="0">
              <a:buNone/>
            </a:pPr>
            <a:r>
              <a:rPr lang="en-US" sz="2600" dirty="0">
                <a:solidFill>
                  <a:schemeClr val="tx1"/>
                </a:solidFill>
              </a:rPr>
              <a:t>What ARIA does: turn a chart into defensible codes</a:t>
            </a:r>
            <a:endParaRPr lang="en-US" sz="2600" dirty="0"/>
          </a:p>
        </p:txBody>
      </p:sp>
      <p:sp>
        <p:nvSpPr>
          <p:cNvPr id="3" name="step 1"/>
          <p:cNvSpPr/>
          <p:nvPr/>
        </p:nvSpPr>
        <p:spPr>
          <a:xfrm>
            <a:off x="1234440" y="1371600"/>
            <a:ext cx="822960" cy="822960"/>
          </a:xfrm>
          <a:prstGeom prst="ellipse">
            <a:avLst/>
          </a:prstGeom>
          <a:solidFill>
            <a:schemeClr val="accent1"/>
          </a:solidFill>
          <a:ln w="12700">
            <a:solidFill>
              <a:schemeClr val="accent1"/>
            </a:solidFill>
            <a:prstDash val="solid"/>
          </a:ln>
        </p:spPr>
      </p:sp>
      <p:sp>
        <p:nvSpPr>
          <p:cNvPr id="4" name="num 1"/>
          <p:cNvSpPr txBox="1"/>
          <p:nvPr/>
        </p:nvSpPr>
        <p:spPr>
          <a:xfrm>
            <a:off x="1234440" y="137160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5" name="head Chart"/>
          <p:cNvSpPr txBox="1"/>
          <p:nvPr/>
        </p:nvSpPr>
        <p:spPr>
          <a:xfrm>
            <a:off x="548640" y="2331720"/>
            <a:ext cx="2194560" cy="365760"/>
          </a:xfrm>
          <a:prstGeom prst="rect">
            <a:avLst/>
          </a:prstGeom>
          <a:noFill/>
          <a:ln/>
        </p:spPr>
        <p:txBody>
          <a:bodyPr wrap="square" lIns="0" tIns="0" rIns="0" bIns="0" rtlCol="0" anchor="ctr"/>
          <a:lstStyle/>
          <a:p>
            <a:pPr algn="ctr" indent="0" marL="0">
              <a:buNone/>
            </a:pPr>
            <a:r>
              <a:rPr lang="en-US" sz="1700" b="1" dirty="0">
                <a:solidFill>
                  <a:schemeClr val="tx2"/>
                </a:solidFill>
              </a:rPr>
              <a:t>Chart</a:t>
            </a:r>
            <a:endParaRPr lang="en-US" sz="1700" dirty="0"/>
          </a:p>
        </p:txBody>
      </p:sp>
      <p:sp>
        <p:nvSpPr>
          <p:cNvPr id="6" name="body Chart"/>
          <p:cNvSpPr txBox="1"/>
          <p:nvPr/>
        </p:nvSpPr>
        <p:spPr>
          <a:xfrm>
            <a:off x="548640" y="2743200"/>
            <a:ext cx="2194560" cy="1463040"/>
          </a:xfrm>
          <a:prstGeom prst="rect">
            <a:avLst/>
          </a:prstGeom>
          <a:noFill/>
          <a:ln/>
        </p:spPr>
        <p:txBody>
          <a:bodyPr wrap="square" lIns="0" tIns="0" rIns="0" bIns="0" rtlCol="0" anchor="t"/>
          <a:lstStyle/>
          <a:p>
            <a:pPr algn="l" indent="0" marL="0">
              <a:buNone/>
            </a:pPr>
            <a:r>
              <a:rPr lang="en-US" sz="1300" dirty="0">
                <a:solidFill>
                  <a:schemeClr val="tx1"/>
                </a:solidFill>
              </a:rPr>
              <a:t>A doctor's notes for one visit: pages of free text.</a:t>
            </a:r>
            <a:endParaRPr lang="en-US" sz="1300" dirty="0"/>
          </a:p>
        </p:txBody>
      </p:sp>
      <p:sp>
        <p:nvSpPr>
          <p:cNvPr id="7" name="arrow 1"/>
          <p:cNvSpPr/>
          <p:nvPr/>
        </p:nvSpPr>
        <p:spPr>
          <a:xfrm>
            <a:off x="2514600" y="1645920"/>
            <a:ext cx="411480" cy="274320"/>
          </a:xfrm>
          <a:prstGeom prst="rightArrow">
            <a:avLst/>
          </a:prstGeom>
          <a:solidFill>
            <a:schemeClr val="accent4"/>
          </a:solidFill>
          <a:ln w="12700">
            <a:solidFill>
              <a:schemeClr val="accent4"/>
            </a:solidFill>
            <a:prstDash val="solid"/>
          </a:ln>
        </p:spPr>
      </p:sp>
      <p:sp>
        <p:nvSpPr>
          <p:cNvPr id="8" name="step 2"/>
          <p:cNvSpPr/>
          <p:nvPr/>
        </p:nvSpPr>
        <p:spPr>
          <a:xfrm>
            <a:off x="3520440" y="1371600"/>
            <a:ext cx="822960" cy="822960"/>
          </a:xfrm>
          <a:prstGeom prst="ellipse">
            <a:avLst/>
          </a:prstGeom>
          <a:solidFill>
            <a:schemeClr val="accent1"/>
          </a:solidFill>
          <a:ln w="12700">
            <a:solidFill>
              <a:schemeClr val="accent1"/>
            </a:solidFill>
            <a:prstDash val="solid"/>
          </a:ln>
        </p:spPr>
      </p:sp>
      <p:sp>
        <p:nvSpPr>
          <p:cNvPr id="9" name="num 2"/>
          <p:cNvSpPr txBox="1"/>
          <p:nvPr/>
        </p:nvSpPr>
        <p:spPr>
          <a:xfrm>
            <a:off x="3520440" y="137160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0" name="head Codes"/>
          <p:cNvSpPr txBox="1"/>
          <p:nvPr/>
        </p:nvSpPr>
        <p:spPr>
          <a:xfrm>
            <a:off x="2834640" y="2331720"/>
            <a:ext cx="2194560" cy="365760"/>
          </a:xfrm>
          <a:prstGeom prst="rect">
            <a:avLst/>
          </a:prstGeom>
          <a:noFill/>
          <a:ln/>
        </p:spPr>
        <p:txBody>
          <a:bodyPr wrap="square" lIns="0" tIns="0" rIns="0" bIns="0" rtlCol="0" anchor="ctr"/>
          <a:lstStyle/>
          <a:p>
            <a:pPr algn="ctr" indent="0" marL="0">
              <a:buNone/>
            </a:pPr>
            <a:r>
              <a:rPr lang="en-US" sz="1700" b="1" dirty="0">
                <a:solidFill>
                  <a:schemeClr val="tx2"/>
                </a:solidFill>
              </a:rPr>
              <a:t>Codes</a:t>
            </a:r>
            <a:endParaRPr lang="en-US" sz="1700" dirty="0"/>
          </a:p>
        </p:txBody>
      </p:sp>
      <p:sp>
        <p:nvSpPr>
          <p:cNvPr id="11" name="body Codes"/>
          <p:cNvSpPr txBox="1"/>
          <p:nvPr/>
        </p:nvSpPr>
        <p:spPr>
          <a:xfrm>
            <a:off x="2834640" y="2743200"/>
            <a:ext cx="2194560" cy="1463040"/>
          </a:xfrm>
          <a:prstGeom prst="rect">
            <a:avLst/>
          </a:prstGeom>
          <a:noFill/>
          <a:ln/>
        </p:spPr>
        <p:txBody>
          <a:bodyPr wrap="square" lIns="0" tIns="0" rIns="0" bIns="0" rtlCol="0" anchor="t"/>
          <a:lstStyle/>
          <a:p>
            <a:pPr algn="l" indent="0" marL="0">
              <a:buNone/>
            </a:pPr>
            <a:r>
              <a:rPr lang="en-US" sz="1300" dirty="0">
                <a:solidFill>
                  <a:schemeClr val="tx1"/>
                </a:solidFill>
              </a:rPr>
              <a:t>A coder (helped by NLP) turns sentences into ICD-10 codes — and knows what not to code.</a:t>
            </a:r>
            <a:endParaRPr lang="en-US" sz="1300" dirty="0"/>
          </a:p>
        </p:txBody>
      </p:sp>
      <p:sp>
        <p:nvSpPr>
          <p:cNvPr id="12" name="arrow 2"/>
          <p:cNvSpPr/>
          <p:nvPr/>
        </p:nvSpPr>
        <p:spPr>
          <a:xfrm>
            <a:off x="4800600" y="1645920"/>
            <a:ext cx="411480" cy="274320"/>
          </a:xfrm>
          <a:prstGeom prst="rightArrow">
            <a:avLst/>
          </a:prstGeom>
          <a:solidFill>
            <a:schemeClr val="accent4"/>
          </a:solidFill>
          <a:ln w="12700">
            <a:solidFill>
              <a:schemeClr val="accent4"/>
            </a:solidFill>
            <a:prstDash val="solid"/>
          </a:ln>
        </p:spPr>
      </p:sp>
      <p:sp>
        <p:nvSpPr>
          <p:cNvPr id="13" name="step 3"/>
          <p:cNvSpPr/>
          <p:nvPr/>
        </p:nvSpPr>
        <p:spPr>
          <a:xfrm>
            <a:off x="5806440" y="1371600"/>
            <a:ext cx="822960" cy="822960"/>
          </a:xfrm>
          <a:prstGeom prst="ellipse">
            <a:avLst/>
          </a:prstGeom>
          <a:solidFill>
            <a:schemeClr val="accent1"/>
          </a:solidFill>
          <a:ln w="12700">
            <a:solidFill>
              <a:schemeClr val="accent1"/>
            </a:solidFill>
            <a:prstDash val="solid"/>
          </a:ln>
        </p:spPr>
      </p:sp>
      <p:sp>
        <p:nvSpPr>
          <p:cNvPr id="14" name="num 3"/>
          <p:cNvSpPr txBox="1"/>
          <p:nvPr/>
        </p:nvSpPr>
        <p:spPr>
          <a:xfrm>
            <a:off x="5806440" y="137160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5" name="head HCC"/>
          <p:cNvSpPr txBox="1"/>
          <p:nvPr/>
        </p:nvSpPr>
        <p:spPr>
          <a:xfrm>
            <a:off x="5120640" y="2331720"/>
            <a:ext cx="2194560" cy="365760"/>
          </a:xfrm>
          <a:prstGeom prst="rect">
            <a:avLst/>
          </a:prstGeom>
          <a:noFill/>
          <a:ln/>
        </p:spPr>
        <p:txBody>
          <a:bodyPr wrap="square" lIns="0" tIns="0" rIns="0" bIns="0" rtlCol="0" anchor="ctr"/>
          <a:lstStyle/>
          <a:p>
            <a:pPr algn="ctr" indent="0" marL="0">
              <a:buNone/>
            </a:pPr>
            <a:r>
              <a:rPr lang="en-US" sz="1700" b="1" dirty="0">
                <a:solidFill>
                  <a:schemeClr val="tx2"/>
                </a:solidFill>
              </a:rPr>
              <a:t>HCC</a:t>
            </a:r>
            <a:endParaRPr lang="en-US" sz="1700" dirty="0"/>
          </a:p>
        </p:txBody>
      </p:sp>
      <p:sp>
        <p:nvSpPr>
          <p:cNvPr id="16" name="body HCC"/>
          <p:cNvSpPr txBox="1"/>
          <p:nvPr/>
        </p:nvSpPr>
        <p:spPr>
          <a:xfrm>
            <a:off x="5120640" y="2743200"/>
            <a:ext cx="2194560" cy="1463040"/>
          </a:xfrm>
          <a:prstGeom prst="rect">
            <a:avLst/>
          </a:prstGeom>
          <a:noFill/>
          <a:ln/>
        </p:spPr>
        <p:txBody>
          <a:bodyPr wrap="square" lIns="0" tIns="0" rIns="0" bIns="0" rtlCol="0" anchor="t"/>
          <a:lstStyle/>
          <a:p>
            <a:pPr algn="l" indent="0" marL="0">
              <a:buNone/>
            </a:pPr>
            <a:r>
              <a:rPr lang="en-US" sz="1300" dirty="0">
                <a:solidFill>
                  <a:schemeClr val="tx1"/>
                </a:solidFill>
              </a:rPr>
              <a:t>Some codes map to a payment category (E11.22 → HCC 37). History-of and "possible" never do.</a:t>
            </a:r>
            <a:endParaRPr lang="en-US" sz="1300" dirty="0"/>
          </a:p>
        </p:txBody>
      </p:sp>
      <p:sp>
        <p:nvSpPr>
          <p:cNvPr id="17" name="arrow 3"/>
          <p:cNvSpPr/>
          <p:nvPr/>
        </p:nvSpPr>
        <p:spPr>
          <a:xfrm>
            <a:off x="7086600" y="1645920"/>
            <a:ext cx="411480" cy="274320"/>
          </a:xfrm>
          <a:prstGeom prst="rightArrow">
            <a:avLst/>
          </a:prstGeom>
          <a:solidFill>
            <a:schemeClr val="accent4"/>
          </a:solidFill>
          <a:ln w="12700">
            <a:solidFill>
              <a:schemeClr val="accent4"/>
            </a:solidFill>
            <a:prstDash val="solid"/>
          </a:ln>
        </p:spPr>
      </p:sp>
      <p:sp>
        <p:nvSpPr>
          <p:cNvPr id="18" name="step 4"/>
          <p:cNvSpPr/>
          <p:nvPr/>
        </p:nvSpPr>
        <p:spPr>
          <a:xfrm>
            <a:off x="8092440" y="1371600"/>
            <a:ext cx="822960" cy="822960"/>
          </a:xfrm>
          <a:prstGeom prst="ellipse">
            <a:avLst/>
          </a:prstGeom>
          <a:solidFill>
            <a:schemeClr val="accent1"/>
          </a:solidFill>
          <a:ln w="12700">
            <a:solidFill>
              <a:schemeClr val="accent1"/>
            </a:solidFill>
            <a:prstDash val="solid"/>
          </a:ln>
        </p:spPr>
      </p:sp>
      <p:sp>
        <p:nvSpPr>
          <p:cNvPr id="19" name="num 4"/>
          <p:cNvSpPr txBox="1"/>
          <p:nvPr/>
        </p:nvSpPr>
        <p:spPr>
          <a:xfrm>
            <a:off x="8092440" y="137160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20" name="head Payment"/>
          <p:cNvSpPr txBox="1"/>
          <p:nvPr/>
        </p:nvSpPr>
        <p:spPr>
          <a:xfrm>
            <a:off x="7406640" y="2331720"/>
            <a:ext cx="2194560" cy="365760"/>
          </a:xfrm>
          <a:prstGeom prst="rect">
            <a:avLst/>
          </a:prstGeom>
          <a:noFill/>
          <a:ln/>
        </p:spPr>
        <p:txBody>
          <a:bodyPr wrap="square" lIns="0" tIns="0" rIns="0" bIns="0" rtlCol="0" anchor="ctr"/>
          <a:lstStyle/>
          <a:p>
            <a:pPr algn="ctr" indent="0" marL="0">
              <a:buNone/>
            </a:pPr>
            <a:r>
              <a:rPr lang="en-US" sz="1700" b="1" dirty="0">
                <a:solidFill>
                  <a:schemeClr val="tx2"/>
                </a:solidFill>
              </a:rPr>
              <a:t>Payment</a:t>
            </a:r>
            <a:endParaRPr lang="en-US" sz="1700" dirty="0"/>
          </a:p>
        </p:txBody>
      </p:sp>
      <p:sp>
        <p:nvSpPr>
          <p:cNvPr id="21" name="body Payment"/>
          <p:cNvSpPr txBox="1"/>
          <p:nvPr/>
        </p:nvSpPr>
        <p:spPr>
          <a:xfrm>
            <a:off x="7406640" y="2743200"/>
            <a:ext cx="2194560" cy="1463040"/>
          </a:xfrm>
          <a:prstGeom prst="rect">
            <a:avLst/>
          </a:prstGeom>
          <a:noFill/>
          <a:ln/>
        </p:spPr>
        <p:txBody>
          <a:bodyPr wrap="square" lIns="0" tIns="0" rIns="0" bIns="0" rtlCol="0" anchor="t"/>
          <a:lstStyle/>
          <a:p>
            <a:pPr algn="l" indent="0" marL="0">
              <a:buNone/>
            </a:pPr>
            <a:r>
              <a:rPr lang="en-US" sz="1300" dirty="0">
                <a:solidFill>
                  <a:schemeClr val="tx1"/>
                </a:solidFill>
              </a:rPr>
              <a:t>CMS pays the plan per member × risk score. A wrong code is an audit finding; a missed one is lost revenue.</a:t>
            </a:r>
            <a:endParaRPr lang="en-US" sz="1300" dirty="0"/>
          </a:p>
        </p:txBody>
      </p:sp>
      <p:sp>
        <p:nvSpPr>
          <p:cNvPr id="22" name="arrow 4"/>
          <p:cNvSpPr/>
          <p:nvPr/>
        </p:nvSpPr>
        <p:spPr>
          <a:xfrm>
            <a:off x="9372600" y="1645920"/>
            <a:ext cx="411480" cy="274320"/>
          </a:xfrm>
          <a:prstGeom prst="rightArrow">
            <a:avLst/>
          </a:prstGeom>
          <a:solidFill>
            <a:schemeClr val="accent4"/>
          </a:solidFill>
          <a:ln w="12700">
            <a:solidFill>
              <a:schemeClr val="accent4"/>
            </a:solidFill>
            <a:prstDash val="solid"/>
          </a:ln>
        </p:spPr>
      </p:sp>
      <p:sp>
        <p:nvSpPr>
          <p:cNvPr id="23" name="step 5"/>
          <p:cNvSpPr/>
          <p:nvPr/>
        </p:nvSpPr>
        <p:spPr>
          <a:xfrm>
            <a:off x="10378440" y="1371600"/>
            <a:ext cx="822960" cy="822960"/>
          </a:xfrm>
          <a:prstGeom prst="ellipse">
            <a:avLst/>
          </a:prstGeom>
          <a:solidFill>
            <a:schemeClr val="accent1"/>
          </a:solidFill>
          <a:ln w="12700">
            <a:solidFill>
              <a:schemeClr val="accent1"/>
            </a:solidFill>
            <a:prstDash val="solid"/>
          </a:ln>
        </p:spPr>
      </p:sp>
      <p:sp>
        <p:nvSpPr>
          <p:cNvPr id="24" name="num 5"/>
          <p:cNvSpPr txBox="1"/>
          <p:nvPr/>
        </p:nvSpPr>
        <p:spPr>
          <a:xfrm>
            <a:off x="10378440" y="137160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rPr>
              <a:t>5</a:t>
            </a:r>
            <a:endParaRPr lang="en-US" sz="2400" dirty="0"/>
          </a:p>
        </p:txBody>
      </p:sp>
      <p:sp>
        <p:nvSpPr>
          <p:cNvPr id="25" name="head RADV audit"/>
          <p:cNvSpPr txBox="1"/>
          <p:nvPr/>
        </p:nvSpPr>
        <p:spPr>
          <a:xfrm>
            <a:off x="9692640" y="2331720"/>
            <a:ext cx="2194560" cy="365760"/>
          </a:xfrm>
          <a:prstGeom prst="rect">
            <a:avLst/>
          </a:prstGeom>
          <a:noFill/>
          <a:ln/>
        </p:spPr>
        <p:txBody>
          <a:bodyPr wrap="square" lIns="0" tIns="0" rIns="0" bIns="0" rtlCol="0" anchor="ctr"/>
          <a:lstStyle/>
          <a:p>
            <a:pPr algn="ctr" indent="0" marL="0">
              <a:buNone/>
            </a:pPr>
            <a:r>
              <a:rPr lang="en-US" sz="1700" b="1" dirty="0">
                <a:solidFill>
                  <a:schemeClr val="tx2"/>
                </a:solidFill>
              </a:rPr>
              <a:t>RADV audit</a:t>
            </a:r>
            <a:endParaRPr lang="en-US" sz="1700" dirty="0"/>
          </a:p>
        </p:txBody>
      </p:sp>
      <p:sp>
        <p:nvSpPr>
          <p:cNvPr id="26" name="body RADV audit"/>
          <p:cNvSpPr txBox="1"/>
          <p:nvPr/>
        </p:nvSpPr>
        <p:spPr>
          <a:xfrm>
            <a:off x="9692640" y="2743200"/>
            <a:ext cx="2194560" cy="1463040"/>
          </a:xfrm>
          <a:prstGeom prst="rect">
            <a:avLst/>
          </a:prstGeom>
          <a:noFill/>
          <a:ln/>
        </p:spPr>
        <p:txBody>
          <a:bodyPr wrap="square" lIns="0" tIns="0" rIns="0" bIns="0" rtlCol="0" anchor="t"/>
          <a:lstStyle/>
          <a:p>
            <a:pPr algn="l" indent="0" marL="0">
              <a:buNone/>
            </a:pPr>
            <a:r>
              <a:rPr lang="en-US" sz="1300" dirty="0">
                <a:solidFill>
                  <a:schemeClr val="tx1"/>
                </a:solidFill>
              </a:rPr>
              <a:t>Years later CMS samples charts and extrapolates the error rate across the whole contract.</a:t>
            </a:r>
            <a:endParaRPr lang="en-US" sz="1300" dirty="0"/>
          </a:p>
        </p:txBody>
      </p:sp>
      <p:sp>
        <p:nvSpPr>
          <p:cNvPr id="27" name="What a recommendation is"/>
          <p:cNvSpPr/>
          <p:nvPr/>
        </p:nvSpPr>
        <p:spPr>
          <a:xfrm>
            <a:off x="548640" y="4480560"/>
            <a:ext cx="5486400" cy="1737360"/>
          </a:xfrm>
          <a:prstGeom prst="roundRect">
            <a:avLst>
              <a:gd name="adj" fmla="val 4211"/>
            </a:avLst>
          </a:prstGeom>
          <a:solidFill>
            <a:srgbClr val="FFFFFF"/>
          </a:solidFill>
          <a:ln w="12700">
            <a:solidFill>
              <a:srgbClr val="FFFFFF"/>
            </a:solidFill>
            <a:prstDash val="solid"/>
          </a:ln>
          <a:effectLst>
            <a:outerShdw sx="100000" sy="100000" kx="0" ky="0" algn="bl" rotWithShape="0" blurRad="76200" dist="25400" dir="5400000">
              <a:srgbClr val="1F2A5C">
                <a:alpha val="12000"/>
              </a:srgbClr>
            </a:outerShdw>
          </a:effectLst>
        </p:spPr>
      </p:sp>
      <p:sp>
        <p:nvSpPr>
          <p:cNvPr id="28" name="What a recommendation is head"/>
          <p:cNvSpPr txBox="1"/>
          <p:nvPr/>
        </p:nvSpPr>
        <p:spPr>
          <a:xfrm>
            <a:off x="713232" y="4590288"/>
            <a:ext cx="5157216" cy="365760"/>
          </a:xfrm>
          <a:prstGeom prst="rect">
            <a:avLst/>
          </a:prstGeom>
          <a:noFill/>
          <a:ln/>
        </p:spPr>
        <p:txBody>
          <a:bodyPr wrap="square" lIns="0" tIns="0" rIns="0" bIns="0" rtlCol="0" anchor="ctr"/>
          <a:lstStyle/>
          <a:p>
            <a:pPr indent="0" marL="0">
              <a:buNone/>
            </a:pPr>
            <a:r>
              <a:rPr lang="en-US" sz="1500" b="1" dirty="0">
                <a:solidFill>
                  <a:schemeClr val="tx2"/>
                </a:solidFill>
              </a:rPr>
              <a:t>What a recommendation is</a:t>
            </a:r>
            <a:endParaRPr lang="en-US" sz="1500" dirty="0"/>
          </a:p>
        </p:txBody>
      </p:sp>
      <p:sp>
        <p:nvSpPr>
          <p:cNvPr id="29" name="What a recommendation is body"/>
          <p:cNvSpPr txBox="1"/>
          <p:nvPr/>
        </p:nvSpPr>
        <p:spPr>
          <a:xfrm>
            <a:off x="713232" y="4983480"/>
            <a:ext cx="5157216" cy="1143000"/>
          </a:xfrm>
          <a:prstGeom prst="rect">
            <a:avLst/>
          </a:prstGeom>
          <a:noFill/>
          <a:ln/>
        </p:spPr>
        <p:txBody>
          <a:bodyPr wrap="square" lIns="0" tIns="0" rIns="0" bIns="0" rtlCol="0" anchor="t"/>
          <a:lstStyle/>
          <a:p>
            <a:pPr indent="0" marL="0">
              <a:buNone/>
            </a:pPr>
            <a:r>
              <a:rPr lang="en-US" sz="1300" dirty="0">
                <a:solidFill>
                  <a:schemeClr val="tx1"/>
                </a:solidFill>
              </a:rPr>
              <a:t>For every code on a chart: codeable, flag, or needs a coder — with the sentence, page, the MEAT evidence, the rule and its guideline citation, and for every "no", what is missing. CoPilot now: the coder reviews and decides. AutoPilot later: confident codes filed without a coder, earned on evidence.</a:t>
            </a:r>
            <a:endParaRPr lang="en-US" sz="1300" dirty="0"/>
          </a:p>
        </p:txBody>
      </p:sp>
      <p:sp>
        <p:nvSpPr>
          <p:cNvPr id="30" name="Pilot scope"/>
          <p:cNvSpPr/>
          <p:nvPr/>
        </p:nvSpPr>
        <p:spPr>
          <a:xfrm>
            <a:off x="6309360" y="4480560"/>
            <a:ext cx="5303520" cy="1737360"/>
          </a:xfrm>
          <a:prstGeom prst="roundRect">
            <a:avLst>
              <a:gd name="adj" fmla="val 4211"/>
            </a:avLst>
          </a:prstGeom>
          <a:solidFill>
            <a:srgbClr val="FFFFFF"/>
          </a:solidFill>
          <a:ln w="12700">
            <a:solidFill>
              <a:srgbClr val="FFFFFF"/>
            </a:solidFill>
            <a:prstDash val="solid"/>
          </a:ln>
          <a:effectLst>
            <a:outerShdw sx="100000" sy="100000" kx="0" ky="0" algn="bl" rotWithShape="0" blurRad="76200" dist="25400" dir="5400000">
              <a:srgbClr val="1F2A5C">
                <a:alpha val="12000"/>
              </a:srgbClr>
            </a:outerShdw>
          </a:effectLst>
        </p:spPr>
      </p:sp>
      <p:sp>
        <p:nvSpPr>
          <p:cNvPr id="31" name="Pilot scope head"/>
          <p:cNvSpPr txBox="1"/>
          <p:nvPr/>
        </p:nvSpPr>
        <p:spPr>
          <a:xfrm>
            <a:off x="6473952" y="4590288"/>
            <a:ext cx="4974336" cy="365760"/>
          </a:xfrm>
          <a:prstGeom prst="rect">
            <a:avLst/>
          </a:prstGeom>
          <a:noFill/>
          <a:ln/>
        </p:spPr>
        <p:txBody>
          <a:bodyPr wrap="square" lIns="0" tIns="0" rIns="0" bIns="0" rtlCol="0" anchor="ctr"/>
          <a:lstStyle/>
          <a:p>
            <a:pPr indent="0" marL="0">
              <a:buNone/>
            </a:pPr>
            <a:r>
              <a:rPr lang="en-US" sz="1500" b="1" dirty="0">
                <a:solidFill>
                  <a:schemeClr val="tx2"/>
                </a:solidFill>
              </a:rPr>
              <a:t>Pilot scope</a:t>
            </a:r>
            <a:endParaRPr lang="en-US" sz="1500" dirty="0"/>
          </a:p>
        </p:txBody>
      </p:sp>
      <p:sp>
        <p:nvSpPr>
          <p:cNvPr id="32" name="Pilot scope body"/>
          <p:cNvSpPr txBox="1"/>
          <p:nvPr/>
        </p:nvSpPr>
        <p:spPr>
          <a:xfrm>
            <a:off x="6473952" y="4983480"/>
            <a:ext cx="4974336" cy="1143000"/>
          </a:xfrm>
          <a:prstGeom prst="rect">
            <a:avLst/>
          </a:prstGeom>
          <a:noFill/>
          <a:ln/>
        </p:spPr>
        <p:txBody>
          <a:bodyPr wrap="square" lIns="0" tIns="0" rIns="0" bIns="0" rtlCol="0" anchor="t"/>
          <a:lstStyle/>
          <a:p>
            <a:pPr indent="0" marL="0">
              <a:buNone/>
            </a:pPr>
            <a:r>
              <a:rPr lang="en-US" sz="1300" dirty="0">
                <a:solidFill>
                  <a:schemeClr val="tx1"/>
                </a:solidFill>
              </a:rPr>
              <a:t>Three HCC categories: diabetes, chronic kidney disease, heart failure. Aetna first. Judged on precision, recall, false-accept rate, coder time per chart, override rate — per code and per date of service, never one aggregate number.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lstStyle/>
          <a:p>
            <a:pPr algn="l" indent="0" marL="0">
              <a:buNone/>
            </a:pPr>
            <a:r>
              <a:rPr lang="en-US" sz="2600" dirty="0">
                <a:solidFill>
                  <a:schemeClr val="tx1"/>
                </a:solidFill>
              </a:rPr>
              <a:t>Today's picture: two services talking</a:t>
            </a:r>
            <a:endParaRPr lang="en-US" sz="2600" dirty="0"/>
          </a:p>
        </p:txBody>
      </p:sp>
      <p:pic>
        <p:nvPicPr>
          <p:cNvPr id="3" name="direct handoff" descr="preencoded.png">    </p:cNvPr>
          <p:cNvPicPr>
            <a:picLocks noChangeAspect="1"/>
          </p:cNvPicPr>
          <p:nvPr/>
        </p:nvPicPr>
        <p:blipFill>
          <a:blip r:embed="rId1"/>
          <a:stretch>
            <a:fillRect/>
          </a:stretch>
        </p:blipFill>
        <p:spPr>
          <a:xfrm>
            <a:off x="1097280" y="1280160"/>
            <a:ext cx="9966960" cy="3319272"/>
          </a:xfrm>
          <a:prstGeom prst="rect">
            <a:avLst/>
          </a:prstGeom>
        </p:spPr>
      </p:pic>
      <p:sp>
        <p:nvSpPr>
          <p:cNvPr id="4" name="direct note"/>
          <p:cNvSpPr txBox="1"/>
          <p:nvPr/>
        </p:nvSpPr>
        <p:spPr>
          <a:xfrm>
            <a:off x="1097280" y="4846320"/>
            <a:ext cx="9966960" cy="1097280"/>
          </a:xfrm>
          <a:prstGeom prst="rect">
            <a:avLst/>
          </a:prstGeom>
          <a:noFill/>
          <a:ln/>
        </p:spPr>
        <p:txBody>
          <a:bodyPr wrap="square" lIns="0" tIns="0" rIns="0" bIns="0" rtlCol="0" anchor="ctr"/>
          <a:lstStyle/>
          <a:p>
            <a:pPr indent="0" marL="0">
              <a:buNone/>
            </a:pPr>
            <a:r>
              <a:rPr lang="en-US" sz="1500" dirty="0">
                <a:solidFill>
                  <a:schemeClr val="tx1"/>
                </a:solidFill>
              </a:rPr>
              <a:t>CIS sends chart + NLP output, the Agentic Hub components answer, the coder sees the answer. This is the handshake and it stays exactly this. The question is only what happens to everything that passed through.</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lstStyle/>
          <a:p>
            <a:pPr algn="l" indent="0" marL="0">
              <a:buNone/>
            </a:pPr>
            <a:r>
              <a:rPr lang="en-US" sz="2600" dirty="0">
                <a:solidFill>
                  <a:schemeClr val="tx1"/>
                </a:solidFill>
              </a:rPr>
              <a:t>Same handshake, plus a kept record: five things only a record gives</a:t>
            </a:r>
            <a:endParaRPr lang="en-US" sz="2600" dirty="0"/>
          </a:p>
        </p:txBody>
      </p:sp>
      <p:pic>
        <p:nvPicPr>
          <p:cNvPr id="3" name="with hub" descr="preencoded.png">    </p:cNvPr>
          <p:cNvPicPr>
            <a:picLocks noChangeAspect="1"/>
          </p:cNvPicPr>
          <p:nvPr/>
        </p:nvPicPr>
        <p:blipFill>
          <a:blip r:embed="rId1"/>
          <a:stretch>
            <a:fillRect/>
          </a:stretch>
        </p:blipFill>
        <p:spPr>
          <a:xfrm>
            <a:off x="457200" y="1188720"/>
            <a:ext cx="6583680" cy="3072384"/>
          </a:xfrm>
          <a:prstGeom prst="rect">
            <a:avLst/>
          </a:prstGeom>
        </p:spPr>
      </p:pic>
      <p:sp>
        <p:nvSpPr>
          <p:cNvPr id="4" name="dot Replay"/>
          <p:cNvSpPr/>
          <p:nvPr/>
        </p:nvSpPr>
        <p:spPr>
          <a:xfrm>
            <a:off x="7315200" y="1234440"/>
            <a:ext cx="457200" cy="457200"/>
          </a:xfrm>
          <a:prstGeom prst="ellipse">
            <a:avLst/>
          </a:prstGeom>
          <a:solidFill>
            <a:schemeClr val="accent1"/>
          </a:solidFill>
          <a:ln w="12700">
            <a:solidFill>
              <a:schemeClr val="accent1"/>
            </a:solidFill>
            <a:prstDash val="solid"/>
          </a:ln>
        </p:spPr>
      </p:sp>
      <p:sp>
        <p:nvSpPr>
          <p:cNvPr id="5" name="n Replay"/>
          <p:cNvSpPr txBox="1"/>
          <p:nvPr/>
        </p:nvSpPr>
        <p:spPr>
          <a:xfrm>
            <a:off x="7315200" y="12344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h Replay"/>
          <p:cNvSpPr txBox="1"/>
          <p:nvPr/>
        </p:nvSpPr>
        <p:spPr>
          <a:xfrm>
            <a:off x="7909560" y="1188720"/>
            <a:ext cx="3840480" cy="320040"/>
          </a:xfrm>
          <a:prstGeom prst="rect">
            <a:avLst/>
          </a:prstGeom>
          <a:noFill/>
          <a:ln/>
        </p:spPr>
        <p:txBody>
          <a:bodyPr wrap="square" lIns="0" tIns="0" rIns="0" bIns="0" rtlCol="0" anchor="ctr"/>
          <a:lstStyle/>
          <a:p>
            <a:pPr indent="0" marL="0">
              <a:buNone/>
            </a:pPr>
            <a:r>
              <a:rPr lang="en-US" sz="1500" b="1" dirty="0">
                <a:solidFill>
                  <a:schemeClr val="tx2"/>
                </a:solidFill>
              </a:rPr>
              <a:t>Replay</a:t>
            </a:r>
            <a:endParaRPr lang="en-US" sz="1500" dirty="0"/>
          </a:p>
        </p:txBody>
      </p:sp>
      <p:sp>
        <p:nvSpPr>
          <p:cNvPr id="7" name="b Replay"/>
          <p:cNvSpPr txBox="1"/>
          <p:nvPr/>
        </p:nvSpPr>
        <p:spPr>
          <a:xfrm>
            <a:off x="7909560" y="1508760"/>
            <a:ext cx="3840480" cy="640080"/>
          </a:xfrm>
          <a:prstGeom prst="rect">
            <a:avLst/>
          </a:prstGeom>
          <a:noFill/>
          <a:ln/>
        </p:spPr>
        <p:txBody>
          <a:bodyPr wrap="square" lIns="0" tIns="0" rIns="0" bIns="0" rtlCol="0" anchor="t"/>
          <a:lstStyle/>
          <a:p>
            <a:pPr indent="0" marL="0">
              <a:buNone/>
            </a:pPr>
            <a:r>
              <a:rPr lang="en-US" sz="1150" dirty="0">
                <a:solidFill>
                  <a:schemeClr val="tx1"/>
                </a:solidFill>
              </a:rPr>
              <a:t>The feed and the rules keep improving; re-run old charts without asking CIS to resend.</a:t>
            </a:r>
            <a:endParaRPr lang="en-US" sz="1150" dirty="0"/>
          </a:p>
        </p:txBody>
      </p:sp>
      <p:sp>
        <p:nvSpPr>
          <p:cNvPr id="8" name="dot Reproduce"/>
          <p:cNvSpPr/>
          <p:nvPr/>
        </p:nvSpPr>
        <p:spPr>
          <a:xfrm>
            <a:off x="7315200" y="2221992"/>
            <a:ext cx="457200" cy="457200"/>
          </a:xfrm>
          <a:prstGeom prst="ellipse">
            <a:avLst/>
          </a:prstGeom>
          <a:solidFill>
            <a:schemeClr val="accent1"/>
          </a:solidFill>
          <a:ln w="12700">
            <a:solidFill>
              <a:schemeClr val="accent1"/>
            </a:solidFill>
            <a:prstDash val="solid"/>
          </a:ln>
        </p:spPr>
      </p:sp>
      <p:sp>
        <p:nvSpPr>
          <p:cNvPr id="9" name="n Reproduce"/>
          <p:cNvSpPr txBox="1"/>
          <p:nvPr/>
        </p:nvSpPr>
        <p:spPr>
          <a:xfrm>
            <a:off x="7315200" y="222199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h Reproduce"/>
          <p:cNvSpPr txBox="1"/>
          <p:nvPr/>
        </p:nvSpPr>
        <p:spPr>
          <a:xfrm>
            <a:off x="7909560" y="2176272"/>
            <a:ext cx="3840480" cy="320040"/>
          </a:xfrm>
          <a:prstGeom prst="rect">
            <a:avLst/>
          </a:prstGeom>
          <a:noFill/>
          <a:ln/>
        </p:spPr>
        <p:txBody>
          <a:bodyPr wrap="square" lIns="0" tIns="0" rIns="0" bIns="0" rtlCol="0" anchor="ctr"/>
          <a:lstStyle/>
          <a:p>
            <a:pPr indent="0" marL="0">
              <a:buNone/>
            </a:pPr>
            <a:r>
              <a:rPr lang="en-US" sz="1500" b="1" dirty="0">
                <a:solidFill>
                  <a:schemeClr val="tx2"/>
                </a:solidFill>
              </a:rPr>
              <a:t>Reproduce</a:t>
            </a:r>
            <a:endParaRPr lang="en-US" sz="1500" dirty="0"/>
          </a:p>
        </p:txBody>
      </p:sp>
      <p:sp>
        <p:nvSpPr>
          <p:cNvPr id="11" name="b Reproduce"/>
          <p:cNvSpPr txBox="1"/>
          <p:nvPr/>
        </p:nvSpPr>
        <p:spPr>
          <a:xfrm>
            <a:off x="7909560" y="2496312"/>
            <a:ext cx="3840480" cy="640080"/>
          </a:xfrm>
          <a:prstGeom prst="rect">
            <a:avLst/>
          </a:prstGeom>
          <a:noFill/>
          <a:ln/>
        </p:spPr>
        <p:txBody>
          <a:bodyPr wrap="square" lIns="0" tIns="0" rIns="0" bIns="0" rtlCol="0" anchor="t"/>
          <a:lstStyle/>
          <a:p>
            <a:pPr indent="0" marL="0">
              <a:buNone/>
            </a:pPr>
            <a:r>
              <a:rPr lang="en-US" sz="1150" dirty="0">
                <a:solidFill>
                  <a:schemeClr val="tx1"/>
                </a:solidFill>
              </a:rPr>
              <a:t>Same chart + same rules → same answer, 100%. A rule change flips zero correct charts. Both need stored runs.</a:t>
            </a:r>
            <a:endParaRPr lang="en-US" sz="1150" dirty="0"/>
          </a:p>
        </p:txBody>
      </p:sp>
      <p:sp>
        <p:nvSpPr>
          <p:cNvPr id="12" name="dot Defend in audit"/>
          <p:cNvSpPr/>
          <p:nvPr/>
        </p:nvSpPr>
        <p:spPr>
          <a:xfrm>
            <a:off x="7315200" y="3209544"/>
            <a:ext cx="457200" cy="457200"/>
          </a:xfrm>
          <a:prstGeom prst="ellipse">
            <a:avLst/>
          </a:prstGeom>
          <a:solidFill>
            <a:schemeClr val="accent1"/>
          </a:solidFill>
          <a:ln w="12700">
            <a:solidFill>
              <a:schemeClr val="accent1"/>
            </a:solidFill>
            <a:prstDash val="solid"/>
          </a:ln>
        </p:spPr>
      </p:sp>
      <p:sp>
        <p:nvSpPr>
          <p:cNvPr id="13" name="n Defend in audit"/>
          <p:cNvSpPr txBox="1"/>
          <p:nvPr/>
        </p:nvSpPr>
        <p:spPr>
          <a:xfrm>
            <a:off x="7315200" y="3209544"/>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h Defend in audit"/>
          <p:cNvSpPr txBox="1"/>
          <p:nvPr/>
        </p:nvSpPr>
        <p:spPr>
          <a:xfrm>
            <a:off x="7909560" y="3163824"/>
            <a:ext cx="3840480" cy="320040"/>
          </a:xfrm>
          <a:prstGeom prst="rect">
            <a:avLst/>
          </a:prstGeom>
          <a:noFill/>
          <a:ln/>
        </p:spPr>
        <p:txBody>
          <a:bodyPr wrap="square" lIns="0" tIns="0" rIns="0" bIns="0" rtlCol="0" anchor="ctr"/>
          <a:lstStyle/>
          <a:p>
            <a:pPr indent="0" marL="0">
              <a:buNone/>
            </a:pPr>
            <a:r>
              <a:rPr lang="en-US" sz="1500" b="1" dirty="0">
                <a:solidFill>
                  <a:schemeClr val="tx2"/>
                </a:solidFill>
              </a:rPr>
              <a:t>Defend in audit</a:t>
            </a:r>
            <a:endParaRPr lang="en-US" sz="1500" dirty="0"/>
          </a:p>
        </p:txBody>
      </p:sp>
      <p:sp>
        <p:nvSpPr>
          <p:cNvPr id="15" name="b Defend in audit"/>
          <p:cNvSpPr txBox="1"/>
          <p:nvPr/>
        </p:nvSpPr>
        <p:spPr>
          <a:xfrm>
            <a:off x="7909560" y="3483864"/>
            <a:ext cx="3840480" cy="640080"/>
          </a:xfrm>
          <a:prstGeom prst="rect">
            <a:avLst/>
          </a:prstGeom>
          <a:noFill/>
          <a:ln/>
        </p:spPr>
        <p:txBody>
          <a:bodyPr wrap="square" lIns="0" tIns="0" rIns="0" bIns="0" rtlCol="0" anchor="t"/>
          <a:lstStyle/>
          <a:p>
            <a:pPr indent="0" marL="0">
              <a:buNone/>
            </a:pPr>
            <a:r>
              <a:rPr lang="en-US" sz="1150" dirty="0">
                <a:solidFill>
                  <a:schemeClr val="tx1"/>
                </a:solidFill>
              </a:rPr>
              <a:t>A frozen package per code — sentence, rule, gates, coder action — readable years later with no access to ARIA.</a:t>
            </a:r>
            <a:endParaRPr lang="en-US" sz="1150" dirty="0"/>
          </a:p>
        </p:txBody>
      </p:sp>
      <p:sp>
        <p:nvSpPr>
          <p:cNvPr id="16" name="dot Measure the pilot"/>
          <p:cNvSpPr/>
          <p:nvPr/>
        </p:nvSpPr>
        <p:spPr>
          <a:xfrm>
            <a:off x="7315200" y="4197096"/>
            <a:ext cx="457200" cy="457200"/>
          </a:xfrm>
          <a:prstGeom prst="ellipse">
            <a:avLst/>
          </a:prstGeom>
          <a:solidFill>
            <a:schemeClr val="accent1"/>
          </a:solidFill>
          <a:ln w="12700">
            <a:solidFill>
              <a:schemeClr val="accent1"/>
            </a:solidFill>
            <a:prstDash val="solid"/>
          </a:ln>
        </p:spPr>
      </p:sp>
      <p:sp>
        <p:nvSpPr>
          <p:cNvPr id="17" name="n Measure the pilot"/>
          <p:cNvSpPr txBox="1"/>
          <p:nvPr/>
        </p:nvSpPr>
        <p:spPr>
          <a:xfrm>
            <a:off x="7315200" y="4197096"/>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8" name="h Measure the pilot"/>
          <p:cNvSpPr txBox="1"/>
          <p:nvPr/>
        </p:nvSpPr>
        <p:spPr>
          <a:xfrm>
            <a:off x="7909560" y="4151376"/>
            <a:ext cx="3840480" cy="320040"/>
          </a:xfrm>
          <a:prstGeom prst="rect">
            <a:avLst/>
          </a:prstGeom>
          <a:noFill/>
          <a:ln/>
        </p:spPr>
        <p:txBody>
          <a:bodyPr wrap="square" lIns="0" tIns="0" rIns="0" bIns="0" rtlCol="0" anchor="ctr"/>
          <a:lstStyle/>
          <a:p>
            <a:pPr indent="0" marL="0">
              <a:buNone/>
            </a:pPr>
            <a:r>
              <a:rPr lang="en-US" sz="1500" b="1" dirty="0">
                <a:solidFill>
                  <a:schemeClr val="tx2"/>
                </a:solidFill>
              </a:rPr>
              <a:t>Measure the pilot</a:t>
            </a:r>
            <a:endParaRPr lang="en-US" sz="1500" dirty="0"/>
          </a:p>
        </p:txBody>
      </p:sp>
      <p:sp>
        <p:nvSpPr>
          <p:cNvPr id="19" name="b Measure the pilot"/>
          <p:cNvSpPr txBox="1"/>
          <p:nvPr/>
        </p:nvSpPr>
        <p:spPr>
          <a:xfrm>
            <a:off x="7909560" y="4471416"/>
            <a:ext cx="3840480" cy="640080"/>
          </a:xfrm>
          <a:prstGeom prst="rect">
            <a:avLst/>
          </a:prstGeom>
          <a:noFill/>
          <a:ln/>
        </p:spPr>
        <p:txBody>
          <a:bodyPr wrap="square" lIns="0" tIns="0" rIns="0" bIns="0" rtlCol="0" anchor="t"/>
          <a:lstStyle/>
          <a:p>
            <a:pPr indent="0" marL="0">
              <a:buNone/>
            </a:pPr>
            <a:r>
              <a:rPr lang="en-US" sz="1150" dirty="0">
                <a:solidFill>
                  <a:schemeClr val="tx1"/>
                </a:solidFill>
              </a:rPr>
              <a:t>Precision, recall, false-accepts, coder time: every number is ARIA's call joined to the coder's, across thousands of charts.</a:t>
            </a:r>
            <a:endParaRPr lang="en-US" sz="1150" dirty="0"/>
          </a:p>
        </p:txBody>
      </p:sp>
      <p:sp>
        <p:nvSpPr>
          <p:cNvPr id="20" name="dot Report gaps to CIS"/>
          <p:cNvSpPr/>
          <p:nvPr/>
        </p:nvSpPr>
        <p:spPr>
          <a:xfrm>
            <a:off x="7315200" y="5184648"/>
            <a:ext cx="457200" cy="457200"/>
          </a:xfrm>
          <a:prstGeom prst="ellipse">
            <a:avLst/>
          </a:prstGeom>
          <a:solidFill>
            <a:schemeClr val="accent1"/>
          </a:solidFill>
          <a:ln w="12700">
            <a:solidFill>
              <a:schemeClr val="accent1"/>
            </a:solidFill>
            <a:prstDash val="solid"/>
          </a:ln>
        </p:spPr>
      </p:sp>
      <p:sp>
        <p:nvSpPr>
          <p:cNvPr id="21" name="n Report gaps to CIS"/>
          <p:cNvSpPr txBox="1"/>
          <p:nvPr/>
        </p:nvSpPr>
        <p:spPr>
          <a:xfrm>
            <a:off x="7315200" y="5184648"/>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2" name="h Report gaps to CIS"/>
          <p:cNvSpPr txBox="1"/>
          <p:nvPr/>
        </p:nvSpPr>
        <p:spPr>
          <a:xfrm>
            <a:off x="7909560" y="5138928"/>
            <a:ext cx="3840480" cy="320040"/>
          </a:xfrm>
          <a:prstGeom prst="rect">
            <a:avLst/>
          </a:prstGeom>
          <a:noFill/>
          <a:ln/>
        </p:spPr>
        <p:txBody>
          <a:bodyPr wrap="square" lIns="0" tIns="0" rIns="0" bIns="0" rtlCol="0" anchor="ctr"/>
          <a:lstStyle/>
          <a:p>
            <a:pPr indent="0" marL="0">
              <a:buNone/>
            </a:pPr>
            <a:r>
              <a:rPr lang="en-US" sz="1500" b="1" dirty="0">
                <a:solidFill>
                  <a:schemeClr val="tx2"/>
                </a:solidFill>
              </a:rPr>
              <a:t>Report gaps to CIS</a:t>
            </a:r>
            <a:endParaRPr lang="en-US" sz="1500" dirty="0"/>
          </a:p>
        </p:txBody>
      </p:sp>
      <p:sp>
        <p:nvSpPr>
          <p:cNvPr id="23" name="b Report gaps to CIS"/>
          <p:cNvSpPr txBox="1"/>
          <p:nvPr/>
        </p:nvSpPr>
        <p:spPr>
          <a:xfrm>
            <a:off x="7909560" y="5458968"/>
            <a:ext cx="3840480" cy="640080"/>
          </a:xfrm>
          <a:prstGeom prst="rect">
            <a:avLst/>
          </a:prstGeom>
          <a:noFill/>
          <a:ln/>
        </p:spPr>
        <p:txBody>
          <a:bodyPr wrap="square" lIns="0" tIns="0" rIns="0" bIns="0" rtlCol="0" anchor="t"/>
          <a:lstStyle/>
          <a:p>
            <a:pPr indent="0" marL="0">
              <a:buNone/>
            </a:pPr>
            <a:r>
              <a:rPr lang="en-US" sz="1150" dirty="0">
                <a:solidFill>
                  <a:schemeClr val="tx1"/>
                </a:solidFill>
              </a:rPr>
              <a:t>Per feed version: which fields arrived, which didn't. the nine known feed gaps become a daily number, not a hand-written page.</a:t>
            </a:r>
            <a:endParaRPr lang="en-US" sz="1150" dirty="0"/>
          </a:p>
        </p:txBody>
      </p:sp>
      <p:sp>
        <p:nvSpPr>
          <p:cNvPr id="24" name="quote"/>
          <p:cNvSpPr txBox="1"/>
          <p:nvPr/>
        </p:nvSpPr>
        <p:spPr>
          <a:xfrm>
            <a:off x="457200" y="4480560"/>
            <a:ext cx="6583680" cy="457200"/>
          </a:xfrm>
          <a:prstGeom prst="rect">
            <a:avLst/>
          </a:prstGeom>
          <a:noFill/>
          <a:ln/>
        </p:spPr>
        <p:txBody>
          <a:bodyPr wrap="square" lIns="0" tIns="0" rIns="0" bIns="0" rtlCol="0" anchor="ctr"/>
          <a:lstStyle/>
          <a:p>
            <a:pPr indent="0" marL="0">
              <a:buNone/>
            </a:pPr>
            <a:r>
              <a:rPr lang="en-US" sz="1200" i="1" dirty="0">
                <a:solidFill>
                  <a:schemeClr val="accent4"/>
                </a:solidFill>
              </a:rPr>
              <a:t>"The data hub (lakehouse) is the logical home of all data." — P2L build guide, key note 3</a:t>
            </a:r>
            <a:endParaRPr lang="en-US" sz="1200" dirty="0"/>
          </a:p>
        </p:txBody>
      </p:sp>
      <p:sp>
        <p:nvSpPr>
          <p:cNvPr id="25" name="not"/>
          <p:cNvSpPr txBox="1"/>
          <p:nvPr/>
        </p:nvSpPr>
        <p:spPr>
          <a:xfrm>
            <a:off x="457200" y="5029200"/>
            <a:ext cx="6583680" cy="1097280"/>
          </a:xfrm>
          <a:prstGeom prst="rect">
            <a:avLst/>
          </a:prstGeom>
          <a:noFill/>
          <a:ln/>
        </p:spPr>
        <p:txBody>
          <a:bodyPr wrap="square" lIns="0" tIns="0" rIns="0" bIns="0" rtlCol="0" anchor="ctr"/>
          <a:lstStyle/>
          <a:p>
            <a:pPr indent="0" marL="0">
              <a:buNone/>
            </a:pPr>
            <a:r>
              <a:rPr lang="en-US" sz="1200" dirty="0">
                <a:solidFill>
                  <a:schemeClr val="tx1"/>
                </a:solidFill>
              </a:rPr>
              <a:t>What the hub does not do: improve the chart or the NLP; own the policy tool (PRM belongs to the Agentic Hub platform, the screen to CIS); sit on the November demo's critical path.</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lstStyle/>
          <a:p>
            <a:pPr algn="l" indent="0" marL="0">
              <a:buNone/>
            </a:pPr>
            <a:r>
              <a:rPr lang="en-US" sz="2600" dirty="0">
                <a:solidFill>
                  <a:schemeClr val="tx1"/>
                </a:solidFill>
              </a:rPr>
              <a:t>The one architecture: four lanes, one chart, one guideline, two doors</a:t>
            </a:r>
            <a:endParaRPr lang="en-US" sz="2600" dirty="0"/>
          </a:p>
        </p:txBody>
      </p:sp>
      <p:pic>
        <p:nvPicPr>
          <p:cNvPr id="3" name="v6" descr="preencoded.png">    </p:cNvPr>
          <p:cNvPicPr>
            <a:picLocks noChangeAspect="1"/>
          </p:cNvPicPr>
          <p:nvPr/>
        </p:nvPicPr>
        <p:blipFill>
          <a:blip r:embed="rId1"/>
          <a:stretch>
            <a:fillRect/>
          </a:stretch>
        </p:blipFill>
        <p:spPr>
          <a:xfrm>
            <a:off x="411480" y="1097280"/>
            <a:ext cx="11338560" cy="5257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lstStyle/>
          <a:p>
            <a:pPr algn="l" indent="0" marL="0">
              <a:buNone/>
            </a:pPr>
            <a:r>
              <a:rPr lang="en-US" sz="2600" dirty="0">
                <a:solidFill>
                  <a:schemeClr val="tx1"/>
                </a:solidFill>
              </a:rPr>
              <a:t>Where the hub runs: two options, one decision for the platform teams</a:t>
            </a:r>
            <a:endParaRPr lang="en-US" sz="2600" dirty="0"/>
          </a:p>
        </p:txBody>
      </p:sp>
      <p:graphicFrame>
        <p:nvGraphicFramePr>
          <p:cNvPr id="7" name="options"/>
          <p:cNvGraphicFramePr>
            <a:graphicFrameLocks noGrp="1"/>
          </p:cNvGraphicFramePr>
          <p:nvPr>
            <p:extLst>
              <p:ext uri="{D42A27DB-BD31-4B8C-83A1-F6EECF244321}">
                <p14:modId xmlns:p14="http://schemas.microsoft.com/office/powerpoint/2010/main" val="1579011935"/>
              </p:ext>
            </p:extLst>
          </p:nvPr>
        </p:nvGraphicFramePr>
        <p:xfrm>
          <a:off x="548640" y="1143000"/>
          <a:ext cx="11064240" cy="914400"/>
        </p:xfrm>
        <a:graphic>
          <a:graphicData uri="http://schemas.openxmlformats.org/drawingml/2006/table">
            <a:tbl>
              <a:tblPr/>
              <a:tblGrid>
                <a:gridCol w="2194560"/>
                <a:gridCol w="4434840"/>
                <a:gridCol w="4434840"/>
              </a:tblGrid>
              <a:tr h="475488">
                <a:tc>
                  <a:txBody>
                    <a:bodyPr/>
                    <a:lstStyle/>
                    <a:p>
                      <a:pPr indent="0" marL="0">
                        <a:buNone/>
                      </a:pP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5C"/>
                          </a:solidFill>
                        </a:rPr>
                        <a:t>Databricks on AWS (today's path)</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5C"/>
                          </a:solidFill>
                        </a:rPr>
                        <a:t>AWS-native (existing lakehouse pattern)</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475488">
                <a:tc>
                  <a:txBody>
                    <a:bodyPr/>
                    <a:lstStyle/>
                    <a:p>
                      <a:pPr indent="0" marL="0">
                        <a:buNone/>
                      </a:pPr>
                      <a:r>
                        <a:rPr lang="en-US" sz="1150" dirty="0">
                          <a:solidFill>
                            <a:srgbClr val="1F2A5C"/>
                          </a:solidFill>
                        </a:rPr>
                        <a:t>Tables and files</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Unity Catalog: one schema per lane, Volumes for files, lineage and masking built in</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S3 + lakehouse catalog, Iceberg/Delta, Lake Formation permissions</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475488">
                <a:tc>
                  <a:txBody>
                    <a:bodyPr/>
                    <a:lstStyle/>
                    <a:p>
                      <a:pPr indent="0" marL="0">
                        <a:buNone/>
                      </a:pPr>
                      <a:r>
                        <a:rPr lang="en-US" sz="1150" dirty="0">
                          <a:solidFill>
                            <a:srgbClr val="1F2A5C"/>
                          </a:solidFill>
                        </a:rPr>
                        <a:t>Reading the CIS bucket</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Cross-account read from the workspace role; CIS adds it to the bucket policy; platform team sets up</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Same bucket policy; the role lives in the hub's AWS account</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475488">
                <a:tc>
                  <a:txBody>
                    <a:bodyPr/>
                    <a:lstStyle/>
                    <a:p>
                      <a:pPr indent="0" marL="0">
                        <a:buNone/>
                      </a:pPr>
                      <a:r>
                        <a:rPr lang="en-US" sz="1150" dirty="0">
                          <a:solidFill>
                            <a:srgbClr val="1F2A5C"/>
                          </a:solidFill>
                        </a:rPr>
                        <a:t>Agentic Hub components and PRM</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File handoff for the demo; SQL endpoint / REST doors later; nightly JDBC copy of PRM</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Same cloud, possibly same account: fewer hops; Glue/EMR copy of PRM</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475488">
                <a:tc>
                  <a:txBody>
                    <a:bodyPr/>
                    <a:lstStyle/>
                    <a:p>
                      <a:pPr indent="0" marL="0">
                        <a:buNone/>
                      </a:pPr>
                      <a:r>
                        <a:rPr lang="en-US" sz="1150" dirty="0">
                          <a:solidFill>
                            <a:srgbClr val="1F2A5C"/>
                          </a:solidFill>
                        </a:rPr>
                        <a:t>Lakehouse write API the platform design assumes</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SQL Statement API for batch; Lakebase (Postgres in Unity Catalog) if available — question for the platform team</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API Gateway + Lambda over the lake, or records stay in PRM's Postgres</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475488">
                <a:tc>
                  <a:txBody>
                    <a:bodyPr/>
                    <a:lstStyle/>
                    <a:p>
                      <a:pPr indent="0" marL="0">
                        <a:buNone/>
                      </a:pPr>
                      <a:r>
                        <a:rPr lang="en-US" sz="1150" dirty="0">
                          <a:solidFill>
                            <a:srgbClr val="1F2A5C"/>
                          </a:solidFill>
                        </a:rPr>
                        <a:t>Time to first real chart</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Days: the pipeline exists; needs bucket access and a PHI-approved workspace</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Weeks: rebuild the slice, then the same access work</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475488">
                <a:tc>
                  <a:txBody>
                    <a:bodyPr/>
                    <a:lstStyle/>
                    <a:p>
                      <a:pPr indent="0" marL="0">
                        <a:buNone/>
                      </a:pPr>
                      <a:r>
                        <a:rPr lang="en-US" sz="1150" dirty="0">
                          <a:solidFill>
                            <a:srgbClr val="1F2A5C"/>
                          </a:solidFill>
                        </a:rPr>
                        <a:t>Risk</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Another lakehouse beside the existing one — mitigated by registering ARIA's catalog in the shared inventory from day one</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Rebuild cost now; the AI org's tooling is on Databricks</a:t>
                      </a:r>
                      <a:endParaRPr lang="en-US" sz="115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bl>
          </a:graphicData>
        </a:graphic>
      </p:graphicFrame>
      <p:sp>
        <p:nvSpPr>
          <p:cNvPr id="4" name="ask box"/>
          <p:cNvSpPr/>
          <p:nvPr/>
        </p:nvSpPr>
        <p:spPr>
          <a:xfrm>
            <a:off x="548640" y="5257800"/>
            <a:ext cx="11064240" cy="1005840"/>
          </a:xfrm>
          <a:prstGeom prst="roundRect">
            <a:avLst>
              <a:gd name="adj" fmla="val 7273"/>
            </a:avLst>
          </a:prstGeom>
          <a:solidFill>
            <a:srgbClr val="FFFFFF"/>
          </a:solidFill>
          <a:ln w="12700">
            <a:solidFill>
              <a:srgbClr val="FFFFFF"/>
            </a:solidFill>
            <a:prstDash val="solid"/>
          </a:ln>
          <a:effectLst>
            <a:outerShdw sx="100000" sy="100000" kx="0" ky="0" algn="bl" rotWithShape="0" blurRad="76200" dist="25400" dir="5400000">
              <a:srgbClr val="1F2A5C">
                <a:alpha val="12000"/>
              </a:srgbClr>
            </a:outerShdw>
          </a:effectLst>
        </p:spPr>
      </p:sp>
      <p:sp>
        <p:nvSpPr>
          <p:cNvPr id="5" name="ask"/>
          <p:cNvSpPr txBox="1"/>
          <p:nvPr/>
        </p:nvSpPr>
        <p:spPr>
          <a:xfrm>
            <a:off x="731520" y="5349240"/>
            <a:ext cx="10698480" cy="822960"/>
          </a:xfrm>
          <a:prstGeom prst="rect">
            <a:avLst/>
          </a:prstGeom>
          <a:noFill/>
          <a:ln/>
        </p:spPr>
        <p:txBody>
          <a:bodyPr wrap="square" lIns="0" tIns="0" rIns="0" bIns="0" rtlCol="0" anchor="ctr"/>
          <a:lstStyle/>
          <a:p>
            <a:pPr indent="0" marL="0">
              <a:buNone/>
            </a:pPr>
            <a:r>
              <a:rPr lang="en-US" sz="1300" b="1" dirty="0">
                <a:solidFill>
                  <a:srgbClr val="1F2A5C"/>
                </a:solidFill>
              </a:rPr>
              <a:t>What we ask the platform teams: </a:t>
            </a:r>
            <a:pPr indent="0" marL="0">
              <a:buNone/>
            </a:pPr>
            <a:r>
              <a:rPr lang="en-US" sz="1300" dirty="0">
                <a:solidFill>
                  <a:schemeClr val="tx1"/>
                </a:solidFill>
              </a:rPr>
              <a:t>which of the two the hub should run on for the next two slices. The data layer (contract, CCDM tables, gold record, golden dataset, metrics) is the same either way; only the glue changes. The pipeline exists on Databricks today; we have no view on where it must live long term.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lstStyle/>
          <a:p>
            <a:pPr algn="l" indent="0" marL="0">
              <a:buNone/>
            </a:pPr>
            <a:r>
              <a:rPr lang="en-US" sz="2600" dirty="0">
                <a:solidFill>
                  <a:schemeClr val="tx1"/>
                </a:solidFill>
              </a:rPr>
              <a:t>Open questions, and the four decisions we need from this room</a:t>
            </a:r>
            <a:endParaRPr lang="en-US" sz="2600" dirty="0"/>
          </a:p>
        </p:txBody>
      </p:sp>
      <p:sp>
        <p:nvSpPr>
          <p:cNvPr id="3" name="Decisions needed"/>
          <p:cNvSpPr/>
          <p:nvPr/>
        </p:nvSpPr>
        <p:spPr>
          <a:xfrm>
            <a:off x="548640" y="1188720"/>
            <a:ext cx="5486400" cy="5029200"/>
          </a:xfrm>
          <a:prstGeom prst="roundRect">
            <a:avLst>
              <a:gd name="adj" fmla="val 1455"/>
            </a:avLst>
          </a:prstGeom>
          <a:solidFill>
            <a:srgbClr val="FFFFFF"/>
          </a:solidFill>
          <a:ln w="12700">
            <a:solidFill>
              <a:srgbClr val="FFFFFF"/>
            </a:solidFill>
            <a:prstDash val="solid"/>
          </a:ln>
          <a:effectLst>
            <a:outerShdw sx="100000" sy="100000" kx="0" ky="0" algn="bl" rotWithShape="0" blurRad="76200" dist="25400" dir="5400000">
              <a:srgbClr val="1F2A5C">
                <a:alpha val="12000"/>
              </a:srgbClr>
            </a:outerShdw>
          </a:effectLst>
        </p:spPr>
      </p:sp>
      <p:sp>
        <p:nvSpPr>
          <p:cNvPr id="4" name="Decisions needed head"/>
          <p:cNvSpPr txBox="1"/>
          <p:nvPr/>
        </p:nvSpPr>
        <p:spPr>
          <a:xfrm>
            <a:off x="713232" y="1298448"/>
            <a:ext cx="5157216" cy="365760"/>
          </a:xfrm>
          <a:prstGeom prst="rect">
            <a:avLst/>
          </a:prstGeom>
          <a:noFill/>
          <a:ln/>
        </p:spPr>
        <p:txBody>
          <a:bodyPr wrap="square" lIns="0" tIns="0" rIns="0" bIns="0" rtlCol="0" anchor="ctr"/>
          <a:lstStyle/>
          <a:p>
            <a:pPr indent="0" marL="0">
              <a:buNone/>
            </a:pPr>
            <a:r>
              <a:rPr lang="en-US" sz="1500" b="1" dirty="0">
                <a:solidFill>
                  <a:schemeClr val="tx2"/>
                </a:solidFill>
              </a:rPr>
              <a:t>Decisions needed</a:t>
            </a:r>
            <a:endParaRPr lang="en-US" sz="1500" dirty="0"/>
          </a:p>
        </p:txBody>
      </p:sp>
      <p:sp>
        <p:nvSpPr>
          <p:cNvPr id="5" name="Decisions needed body"/>
          <p:cNvSpPr txBox="1"/>
          <p:nvPr/>
        </p:nvSpPr>
        <p:spPr>
          <a:xfrm>
            <a:off x="713232" y="1691640"/>
            <a:ext cx="5157216" cy="4434840"/>
          </a:xfrm>
          <a:prstGeom prst="rect">
            <a:avLst/>
          </a:prstGeom>
          <a:noFill/>
          <a:ln/>
        </p:spPr>
        <p:txBody>
          <a:bodyPr wrap="square" lIns="0" tIns="0" rIns="0" bIns="0" rtlCol="0" anchor="t"/>
          <a:lstStyle/>
          <a:p>
            <a:pPr indent="0" marL="0">
              <a:spcAft>
                <a:spcPts val="800"/>
              </a:spcAft>
              <a:buNone/>
            </a:pPr>
            <a:r>
              <a:rPr lang="en-US" sz="1600" dirty="0">
                <a:solidFill>
                  <a:schemeClr val="tx1"/>
                </a:solidFill>
              </a:rPr>
              <a:t>1. Platform for slices 2–3: Databricks on AWS, or AWS-native in the existing lakehouse.</a:t>
            </a:r>
            <a:endParaRPr lang="en-US" sz="1600" dirty="0"/>
          </a:p>
          <a:p>
            <a:pPr indent="0" marL="0">
              <a:spcAft>
                <a:spcPts val="800"/>
              </a:spcAft>
              <a:buNone/>
            </a:pPr>
            <a:r>
              <a:rPr lang="en-US" sz="1600" dirty="0">
                <a:solidFill>
                  <a:schemeClr val="tx1"/>
                </a:solidFill>
              </a:rPr>
              <a:t>2. Access: cross-account read to cis-nxt-gen-data-qa (who, which role), and a PHI-approved workspace for real charts.</a:t>
            </a:r>
            <a:endParaRPr lang="en-US" sz="1600" dirty="0"/>
          </a:p>
          <a:p>
            <a:pPr indent="0" marL="0">
              <a:spcAft>
                <a:spcPts val="800"/>
              </a:spcAft>
              <a:buNone/>
            </a:pPr>
            <a:r>
              <a:rPr lang="en-US" sz="1600" dirty="0">
                <a:solidFill>
                  <a:schemeClr val="tx1"/>
                </a:solidFill>
              </a:rPr>
              <a:t>3. The PRM copy: where it lands (schema policy), and who owns the lakehouse write API the platform design assigns to data engineering — with a date or an explicit 'not yet'.</a:t>
            </a:r>
            <a:endParaRPr lang="en-US" sz="1600" dirty="0"/>
          </a:p>
          <a:p>
            <a:pPr indent="0" marL="0">
              <a:buNone/>
            </a:pPr>
            <a:r>
              <a:rPr lang="en-US" sz="1600" dirty="0">
                <a:solidFill>
                  <a:schemeClr val="tx1"/>
                </a:solidFill>
              </a:rPr>
              <a:t>4. One account plan or three: is the Agentic Hub's AWS account (PRM and components) provisioned by the same platform team as the hub?</a:t>
            </a:r>
            <a:endParaRPr lang="en-US" sz="1600" dirty="0"/>
          </a:p>
        </p:txBody>
      </p:sp>
      <p:sp>
        <p:nvSpPr>
          <p:cNvPr id="6" name="Open with the Agentic Hub platform"/>
          <p:cNvSpPr/>
          <p:nvPr/>
        </p:nvSpPr>
        <p:spPr>
          <a:xfrm>
            <a:off x="6309360" y="1188720"/>
            <a:ext cx="5303520" cy="2377440"/>
          </a:xfrm>
          <a:prstGeom prst="roundRect">
            <a:avLst>
              <a:gd name="adj" fmla="val 3077"/>
            </a:avLst>
          </a:prstGeom>
          <a:solidFill>
            <a:srgbClr val="FFFFFF"/>
          </a:solidFill>
          <a:ln w="12700">
            <a:solidFill>
              <a:srgbClr val="FFFFFF"/>
            </a:solidFill>
            <a:prstDash val="solid"/>
          </a:ln>
          <a:effectLst>
            <a:outerShdw sx="100000" sy="100000" kx="0" ky="0" algn="bl" rotWithShape="0" blurRad="76200" dist="25400" dir="5400000">
              <a:srgbClr val="1F2A5C">
                <a:alpha val="12000"/>
              </a:srgbClr>
            </a:outerShdw>
          </a:effectLst>
        </p:spPr>
      </p:sp>
      <p:sp>
        <p:nvSpPr>
          <p:cNvPr id="7" name="Open with the Agentic Hub platform head"/>
          <p:cNvSpPr txBox="1"/>
          <p:nvPr/>
        </p:nvSpPr>
        <p:spPr>
          <a:xfrm>
            <a:off x="6473952" y="1298448"/>
            <a:ext cx="4974336" cy="365760"/>
          </a:xfrm>
          <a:prstGeom prst="rect">
            <a:avLst/>
          </a:prstGeom>
          <a:noFill/>
          <a:ln/>
        </p:spPr>
        <p:txBody>
          <a:bodyPr wrap="square" lIns="0" tIns="0" rIns="0" bIns="0" rtlCol="0" anchor="ctr"/>
          <a:lstStyle/>
          <a:p>
            <a:pPr indent="0" marL="0">
              <a:buNone/>
            </a:pPr>
            <a:r>
              <a:rPr lang="en-US" sz="1500" b="1" dirty="0">
                <a:solidFill>
                  <a:schemeClr val="tx2"/>
                </a:solidFill>
              </a:rPr>
              <a:t>Open with the Agentic Hub platform</a:t>
            </a:r>
            <a:endParaRPr lang="en-US" sz="1500" dirty="0"/>
          </a:p>
        </p:txBody>
      </p:sp>
      <p:sp>
        <p:nvSpPr>
          <p:cNvPr id="8" name="Open with the Agentic Hub platform body"/>
          <p:cNvSpPr txBox="1"/>
          <p:nvPr/>
        </p:nvSpPr>
        <p:spPr>
          <a:xfrm>
            <a:off x="6473952" y="1691640"/>
            <a:ext cx="4974336" cy="1783080"/>
          </a:xfrm>
          <a:prstGeom prst="rect">
            <a:avLst/>
          </a:prstGeom>
          <a:noFill/>
          <a:ln/>
        </p:spPr>
        <p:txBody>
          <a:bodyPr wrap="square" lIns="0" tIns="0" rIns="0" bIns="0" rtlCol="0" anchor="t"/>
          <a:lstStyle/>
          <a:p>
            <a:pPr indent="0" marL="0">
              <a:buNone/>
            </a:pPr>
            <a:r>
              <a:rPr lang="en-US" sz="1500" dirty="0">
                <a:solidFill>
                  <a:schemeClr val="tx1"/>
                </a:solidFill>
              </a:rPr>
              <a:t>Does CIS pre-run NLP (the agreed handshake) or does the Hub call the NLP ensemble (the architecture page)? Golden dataset: 200 or 256 charts, and who holds it? Is a file handoff acceptable for the November demo?</a:t>
            </a:r>
            <a:endParaRPr lang="en-US" sz="1500" dirty="0"/>
          </a:p>
        </p:txBody>
      </p:sp>
      <p:sp>
        <p:nvSpPr>
          <p:cNvPr id="9" name="Open with CIS"/>
          <p:cNvSpPr/>
          <p:nvPr/>
        </p:nvSpPr>
        <p:spPr>
          <a:xfrm>
            <a:off x="6309360" y="3749040"/>
            <a:ext cx="5303520" cy="2468880"/>
          </a:xfrm>
          <a:prstGeom prst="roundRect">
            <a:avLst>
              <a:gd name="adj" fmla="val 2963"/>
            </a:avLst>
          </a:prstGeom>
          <a:solidFill>
            <a:srgbClr val="FFFFFF"/>
          </a:solidFill>
          <a:ln w="12700">
            <a:solidFill>
              <a:srgbClr val="FFFFFF"/>
            </a:solidFill>
            <a:prstDash val="solid"/>
          </a:ln>
          <a:effectLst>
            <a:outerShdw sx="100000" sy="100000" kx="0" ky="0" algn="bl" rotWithShape="0" blurRad="76200" dist="25400" dir="5400000">
              <a:srgbClr val="1F2A5C">
                <a:alpha val="12000"/>
              </a:srgbClr>
            </a:outerShdw>
          </a:effectLst>
        </p:spPr>
      </p:sp>
      <p:sp>
        <p:nvSpPr>
          <p:cNvPr id="10" name="Open with CIS head"/>
          <p:cNvSpPr txBox="1"/>
          <p:nvPr/>
        </p:nvSpPr>
        <p:spPr>
          <a:xfrm>
            <a:off x="6473952" y="3858768"/>
            <a:ext cx="4974336" cy="365760"/>
          </a:xfrm>
          <a:prstGeom prst="rect">
            <a:avLst/>
          </a:prstGeom>
          <a:noFill/>
          <a:ln/>
        </p:spPr>
        <p:txBody>
          <a:bodyPr wrap="square" lIns="0" tIns="0" rIns="0" bIns="0" rtlCol="0" anchor="ctr"/>
          <a:lstStyle/>
          <a:p>
            <a:pPr indent="0" marL="0">
              <a:buNone/>
            </a:pPr>
            <a:r>
              <a:rPr lang="en-US" sz="1500" b="1" dirty="0">
                <a:solidFill>
                  <a:schemeClr val="tx2"/>
                </a:solidFill>
              </a:rPr>
              <a:t>Open with CIS</a:t>
            </a:r>
            <a:endParaRPr lang="en-US" sz="1500" dirty="0"/>
          </a:p>
        </p:txBody>
      </p:sp>
      <p:sp>
        <p:nvSpPr>
          <p:cNvPr id="11" name="Open with CIS body"/>
          <p:cNvSpPr txBox="1"/>
          <p:nvPr/>
        </p:nvSpPr>
        <p:spPr>
          <a:xfrm>
            <a:off x="6473952" y="4251960"/>
            <a:ext cx="4974336" cy="1874520"/>
          </a:xfrm>
          <a:prstGeom prst="rect">
            <a:avLst/>
          </a:prstGeom>
          <a:noFill/>
          <a:ln/>
        </p:spPr>
        <p:txBody>
          <a:bodyPr wrap="square" lIns="0" tIns="0" rIns="0" bIns="0" rtlCol="0" anchor="t"/>
          <a:lstStyle/>
          <a:p>
            <a:pPr indent="0" marL="0">
              <a:buNone/>
            </a:pPr>
            <a:r>
              <a:rPr lang="en-US" sz="1500" dirty="0">
                <a:solidFill>
                  <a:schemeClr val="tx1"/>
                </a:solidFill>
              </a:rPr>
              <a:t>One sample ZIP. The ARIA prefix and SQS vs SNS. For each must-have field in contract v0.2: present / can add / not available — especially signer and co-signature, six assertion states, CPT, all code candidates. How coder decisions come back.</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7772400" cy="1188720"/>
          </a:xfrm>
          <a:prstGeom prst="rect">
            <a:avLst/>
          </a:prstGeom>
          <a:noFill/>
          <a:ln/>
        </p:spPr>
        <p:txBody>
          <a:bodyPr wrap="square" lIns="0" tIns="0" rIns="0" bIns="0" rtlCol="0" anchor="b"/>
          <a:lstStyle/>
          <a:p>
            <a:pPr algn="l" indent="0" marL="0">
              <a:buNone/>
            </a:pPr>
            <a:r>
              <a:rPr lang="en-US" sz="4400" b="1" dirty="0">
                <a:solidFill>
                  <a:schemeClr val="tx1"/>
                </a:solidFill>
              </a:rPr>
              <a:t>Appendix</a:t>
            </a:r>
            <a:endParaRPr lang="en-US" sz="4400" dirty="0"/>
          </a:p>
        </p:txBody>
      </p:sp>
      <p:sp>
        <p:nvSpPr>
          <p:cNvPr id="3" name="Text 0"/>
          <p:cNvSpPr/>
          <p:nvPr>
            <p:ph idx="101" type="body" hasCustomPrompt="1"/>
          </p:nvPr>
        </p:nvSpPr>
        <p:spPr>
          <a:xfrm>
            <a:off x="548640" y="2103120"/>
            <a:ext cx="7772400" cy="914400"/>
          </a:xfrm>
          <a:prstGeom prst="rect">
            <a:avLst/>
          </a:prstGeom>
          <a:noFill/>
          <a:ln/>
        </p:spPr>
        <p:txBody>
          <a:bodyPr wrap="square" lIns="0" tIns="0" rIns="0" bIns="0" rtlCol="0" anchor="t"/>
          <a:lstStyle/>
          <a:p>
            <a:pPr algn="l" indent="0" marL="0">
              <a:buNone/>
            </a:pPr>
            <a:r>
              <a:rPr lang="en-US" sz="2000" dirty="0">
                <a:solidFill>
                  <a:schemeClr val="tx1"/>
                </a:solidFill>
              </a:rPr>
              <a:t>Data blueprint · silver tables · CIS contract v0.2 · policy lane with PRM</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lstStyle/>
          <a:p>
            <a:pPr algn="l" indent="0" marL="0">
              <a:buNone/>
            </a:pPr>
            <a:r>
              <a:rPr lang="en-US" sz="2600" dirty="0">
                <a:solidFill>
                  <a:schemeClr val="tx1"/>
                </a:solidFill>
              </a:rPr>
              <a:t>Data blueprint: every kind of data the hub keeps, and its rules</a:t>
            </a:r>
            <a:endParaRPr lang="en-US" sz="2600" dirty="0"/>
          </a:p>
        </p:txBody>
      </p:sp>
      <p:graphicFrame>
        <p:nvGraphicFramePr>
          <p:cNvPr id="10" name="blueprint"/>
          <p:cNvGraphicFramePr>
            <a:graphicFrameLocks noGrp="1"/>
          </p:cNvGraphicFramePr>
          <p:nvPr>
            <p:extLst>
              <p:ext uri="{D42A27DB-BD31-4B8C-83A1-F6EECF244321}">
                <p14:modId xmlns:p14="http://schemas.microsoft.com/office/powerpoint/2010/main" val="1579011935"/>
              </p:ext>
            </p:extLst>
          </p:nvPr>
        </p:nvGraphicFramePr>
        <p:xfrm>
          <a:off x="457200" y="1097280"/>
          <a:ext cx="11247120" cy="914400"/>
        </p:xfrm>
        <a:graphic>
          <a:graphicData uri="http://schemas.openxmlformats.org/drawingml/2006/table">
            <a:tbl>
              <a:tblPr/>
              <a:tblGrid>
                <a:gridCol w="1554480"/>
                <a:gridCol w="822960"/>
                <a:gridCol w="3657600"/>
                <a:gridCol w="2651760"/>
                <a:gridCol w="822960"/>
                <a:gridCol w="1737360"/>
              </a:tblGrid>
              <a:tr h="347472">
                <a:tc>
                  <a:txBody>
                    <a:bodyPr/>
                    <a:lstStyle/>
                    <a:p>
                      <a:pPr indent="0" marL="0">
                        <a:buNone/>
                      </a:pPr>
                      <a:r>
                        <a:rPr lang="en-US" sz="1000" b="1" dirty="0">
                          <a:solidFill>
                            <a:srgbClr val="1F2A5C"/>
                          </a:solidFill>
                        </a:rPr>
                        <a:t>Data</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b="1" dirty="0">
                          <a:solidFill>
                            <a:srgbClr val="1F2A5C"/>
                          </a:solidFill>
                        </a:rPr>
                        <a:t>Layer</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b="1" dirty="0">
                          <a:solidFill>
                            <a:srgbClr val="1F2A5C"/>
                          </a:solidFill>
                        </a:rPr>
                        <a:t>What it is / why</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b="1" dirty="0">
                          <a:solidFill>
                            <a:srgbClr val="1F2A5C"/>
                          </a:solidFill>
                        </a:rPr>
                        <a:t>Written by → read by</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b="1" dirty="0">
                          <a:solidFill>
                            <a:srgbClr val="1F2A5C"/>
                          </a:solidFill>
                        </a:rPr>
                        <a:t>PHI</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b="1" dirty="0">
                          <a:solidFill>
                            <a:srgbClr val="1F2A5C"/>
                          </a:solidFill>
                        </a:rPr>
                        <a:t>Versioning · keep</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2A5C"/>
                          </a:solidFill>
                        </a:rPr>
                        <a:t>Chart events</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Bronze</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The ZIP as received, with event metadata and feed version; the replay source</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Ingress job → silver, replay</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PHI</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Append only · years</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2A5C"/>
                          </a:solidFill>
                        </a:rPr>
                        <a:t>CCDM chart tables</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Silver</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Six tables: chart, note, mention, code candidate, relationship, MEAT evidence</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Silver job → abstractor, auditor gates, explain API</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PHI</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Latest per chart, versions stamped · years</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2A5C"/>
                          </a:solidFill>
                        </a:rPr>
                        <a:t>Quarantine</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Silver</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Rows or charts that failed a rule, with reason code and owner; daily report to CIS</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Silver job → data eng, CIS, NLP team</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PHI</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Append only · 1 year</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2A5C"/>
                          </a:solidFill>
                        </a:rPr>
                        <a:t>Clinical truth graph</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CTG</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One evidence-backed record per chart, the auditor's facts</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Abstractor → auditor, explain API</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PHI</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Append; graph version per run · years</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2A5C"/>
                          </a:solidFill>
                        </a:rPr>
                        <a:t>Determinations</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Gold</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Per code: disposition, failed gate, confidence, rule + snapshot ids, all version keys</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Auditor; coder action from CIS → publish, explain API, eval</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PHI</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Append; rerun = new version · years</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2A5C"/>
                          </a:solidFill>
                        </a:rPr>
                        <a:t>Results file</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Gold</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One JSON per chart back to CIS, always, including 'not processed'</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Publish job → CIS</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PHI</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Derived · 90 days</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2A5C"/>
                          </a:solidFill>
                        </a:rPr>
                        <a:t>Decision package</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Gold</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Frozen proof per code for audit, readable without ARIA</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Export job → compliance, auditors</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PHI</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Locked, timestamped · years</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2A5C"/>
                          </a:solidFill>
                        </a:rPr>
                        <a:t>Coder feedback</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Feedback</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Accept / reject / override with reason code; time per chart; shadow comparison</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CIS → eval, platform team</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PHI</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Append only · years</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2A5C"/>
                          </a:solidFill>
                        </a:rPr>
                        <a:t>Policy tables (copy)</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Policy</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Nightly copy of PRM's rules, reviews, active ruleset</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Bridge job → explain API, eval, audit</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no</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Per snapshot digest · forever</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2A5C"/>
                          </a:solidFill>
                        </a:rPr>
                        <a:t>Reference data</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Ref</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CMS codes, HCC crosswalk, CCL, RAF weights, clinical taxonomy, CCDM registry</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Load jobs → all, via lookup door</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no</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Versioned, old kept · forever</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2A5C"/>
                          </a:solidFill>
                        </a:rPr>
                        <a:t>Golden dataset</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Quality</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256 charts with coder-confirmed answers; gates every release</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Coders + data eng → replay, eval</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PHI (de-id)</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Versioned set · forever</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2A5C"/>
                          </a:solidFill>
                        </a:rPr>
                        <a:t>Evaluation metrics</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Quality</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Precision, recall, false-accepts, coder time, Kappa; per HCC, code, DOS</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Eval job → leadership, platform team</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no</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000" dirty="0">
                          <a:solidFill>
                            <a:srgbClr val="1F2A5C"/>
                          </a:solidFill>
                        </a:rPr>
                        <a:t>One set per version · forever</a:t>
                      </a:r>
                      <a:endParaRPr lang="en-US" sz="1000" dirty="0"/>
                    </a:p>
                  </a:txBody>
                  <a:tcPr marL="36576" marR="36576" marT="36576" marB="36576">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bl>
          </a:graphicData>
        </a:graphic>
      </p:graphicFrame>
      <p:sp>
        <p:nvSpPr>
          <p:cNvPr id="4" name="rules"/>
          <p:cNvSpPr txBox="1"/>
          <p:nvPr/>
        </p:nvSpPr>
        <p:spPr>
          <a:xfrm>
            <a:off x="457200" y="5806440"/>
            <a:ext cx="11247120" cy="548640"/>
          </a:xfrm>
          <a:prstGeom prst="rect">
            <a:avLst/>
          </a:prstGeom>
          <a:noFill/>
          <a:ln/>
        </p:spPr>
        <p:txBody>
          <a:bodyPr wrap="square" lIns="0" tIns="0" rIns="0" bIns="0" rtlCol="0" anchor="ctr"/>
          <a:lstStyle/>
          <a:p>
            <a:pPr indent="0" marL="0">
              <a:buNone/>
            </a:pPr>
            <a:r>
              <a:rPr lang="en-US" sz="1050" dirty="0">
                <a:solidFill>
                  <a:schemeClr val="tx1"/>
                </a:solidFill>
              </a:rPr>
              <a:t>Four rules for every row: nothing that feeds a decision is overwritten · every decision row carries its version keys · PHI tables readable only by pipeline, components and the explain API · other systems reach data through the two doors or the S3 handoffs. Full table: aria-data-blueprint (22 rows).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lstStyle/>
          <a:p>
            <a:pPr algn="l" indent="0" marL="0">
              <a:buNone/>
            </a:pPr>
            <a:r>
              <a:rPr lang="en-US" sz="2600" dirty="0">
                <a:solidFill>
                  <a:schemeClr val="tx1"/>
                </a:solidFill>
              </a:rPr>
              <a:t>Silver: six tables, one per section of the Agentic Hub extraction requirements</a:t>
            </a:r>
            <a:endParaRPr lang="en-US" sz="2600" dirty="0"/>
          </a:p>
        </p:txBody>
      </p:sp>
      <p:graphicFrame>
        <p:nvGraphicFramePr>
          <p:cNvPr id="11" name="silver"/>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1554480"/>
                <a:gridCol w="1828800"/>
                <a:gridCol w="5120640"/>
                <a:gridCol w="2560320"/>
              </a:tblGrid>
              <a:tr h="548640">
                <a:tc>
                  <a:txBody>
                    <a:bodyPr/>
                    <a:lstStyle/>
                    <a:p>
                      <a:pPr indent="0" marL="0">
                        <a:buNone/>
                      </a:pPr>
                      <a:r>
                        <a:rPr lang="en-US" sz="1200" b="1" dirty="0">
                          <a:solidFill>
                            <a:srgbClr val="1F2A5C"/>
                          </a:solidFill>
                        </a:rPr>
                        <a:t>Table</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5C"/>
                          </a:solidFill>
                        </a:rPr>
                        <a:t>One row per</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5C"/>
                          </a:solidFill>
                        </a:rPr>
                        <a:t>What it holds</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5C"/>
                          </a:solidFill>
                        </a:rPr>
                        <a:t>Who reads it</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1F2A5C"/>
                          </a:solidFill>
                        </a:rPr>
                        <a:t>chart</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chart received</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patient, encounters, DOS, facility type, payer, HCC model version, mode</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everything; gates L1, L3</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1F2A5C"/>
                          </a:solidFill>
                        </a:rPr>
                        <a:t>note</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clinical note</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signer + credential + NPI, co-signature, signed/unsigned, signature vs service time, addenda</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gates L3, L4 (eligibility)</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1F2A5C"/>
                          </a:solidFill>
                        </a:rPr>
                        <a:t>mention</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entity the NLP found</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text, page, offsets, section, note type, author, DOS, assertion (6 states), severity/stage, confidence</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abstractor, explain API</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1F2A5C"/>
                          </a:solidFill>
                        </a:rPr>
                        <a:t>code_candidate</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code proposed for a mention</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system (ICD-10-CM / CPT / PCS), code at full specificity, rank, confidence</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abstractor, auditor L1, coder view</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1F2A5C"/>
                          </a:solidFill>
                        </a:rPr>
                        <a:t>relationship</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link between two mentions</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TREATS / EVALUATES / MONITORS / INDICATES / COMPLICATES, span, confidence</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abstractor, rules</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1F2A5C"/>
                          </a:solidFill>
                        </a:rPr>
                        <a:t>meat_evidence</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MEAT sentence per mention</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M / E / A / T, span, section, DOS, confidence</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200" dirty="0">
                          <a:solidFill>
                            <a:srgbClr val="1F2A5C"/>
                          </a:solidFill>
                        </a:rPr>
                        <a:t>abstractor MEAT decision, gate L5</a:t>
                      </a:r>
                      <a:endParaRPr lang="en-US" sz="1200" dirty="0"/>
                    </a:p>
                  </a:txBody>
                  <a:tcPr marL="54864" marR="54864" marT="54864" marB="54864">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bl>
          </a:graphicData>
        </a:graphic>
      </p:graphicFrame>
      <p:sp>
        <p:nvSpPr>
          <p:cNvPr id="4" name="quarantine"/>
          <p:cNvSpPr txBox="1"/>
          <p:nvPr/>
        </p:nvSpPr>
        <p:spPr>
          <a:xfrm>
            <a:off x="548640" y="5303520"/>
            <a:ext cx="11064240" cy="822960"/>
          </a:xfrm>
          <a:prstGeom prst="rect">
            <a:avLst/>
          </a:prstGeom>
          <a:noFill/>
          <a:ln/>
        </p:spPr>
        <p:txBody>
          <a:bodyPr wrap="square" lIns="0" tIns="0" rIns="0" bIns="0" rtlCol="0" anchor="ctr"/>
          <a:lstStyle/>
          <a:p>
            <a:pPr indent="0" marL="0">
              <a:buNone/>
            </a:pPr>
            <a:r>
              <a:rPr lang="en-US" sz="1200" dirty="0">
                <a:solidFill>
                  <a:schemeClr val="tx1"/>
                </a:solidFill>
              </a:rPr>
              <a:t>Quarantine (append-only, reason + owner): confidence outside 0–1 · code at category level · mention without page/offset · 'medication' that is a verb · unknown assertion · unreadable ZIP (whole chart). Every row stamped ccdm_version, nlp_version, feed_version.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lstStyle/>
          <a:p>
            <a:pPr algn="l" indent="0" marL="0">
              <a:buNone/>
            </a:pPr>
            <a:r>
              <a:rPr lang="en-US" sz="2600" dirty="0">
                <a:solidFill>
                  <a:schemeClr val="tx1"/>
                </a:solidFill>
              </a:rPr>
              <a:t>CIS contract v0.2: one ZIP per chart, and what the JSON must say</a:t>
            </a:r>
            <a:endParaRPr lang="en-US" sz="2600" dirty="0"/>
          </a:p>
        </p:txBody>
      </p:sp>
      <p:sp>
        <p:nvSpPr>
          <p:cNvPr id="3" name="Envelope"/>
          <p:cNvSpPr/>
          <p:nvPr/>
        </p:nvSpPr>
        <p:spPr>
          <a:xfrm>
            <a:off x="548640" y="1188720"/>
            <a:ext cx="3657600" cy="5029200"/>
          </a:xfrm>
          <a:prstGeom prst="roundRect">
            <a:avLst>
              <a:gd name="adj" fmla="val 2000"/>
            </a:avLst>
          </a:prstGeom>
          <a:solidFill>
            <a:srgbClr val="FFFFFF"/>
          </a:solidFill>
          <a:ln w="12700">
            <a:solidFill>
              <a:srgbClr val="FFFFFF"/>
            </a:solidFill>
            <a:prstDash val="solid"/>
          </a:ln>
          <a:effectLst>
            <a:outerShdw sx="100000" sy="100000" kx="0" ky="0" algn="bl" rotWithShape="0" blurRad="76200" dist="25400" dir="5400000">
              <a:srgbClr val="1F2A5C">
                <a:alpha val="12000"/>
              </a:srgbClr>
            </a:outerShdw>
          </a:effectLst>
        </p:spPr>
      </p:sp>
      <p:sp>
        <p:nvSpPr>
          <p:cNvPr id="4" name="Envelope head"/>
          <p:cNvSpPr txBox="1"/>
          <p:nvPr/>
        </p:nvSpPr>
        <p:spPr>
          <a:xfrm>
            <a:off x="713232" y="1298448"/>
            <a:ext cx="3328416" cy="365760"/>
          </a:xfrm>
          <a:prstGeom prst="rect">
            <a:avLst/>
          </a:prstGeom>
          <a:noFill/>
          <a:ln/>
        </p:spPr>
        <p:txBody>
          <a:bodyPr wrap="square" lIns="0" tIns="0" rIns="0" bIns="0" rtlCol="0" anchor="ctr"/>
          <a:lstStyle/>
          <a:p>
            <a:pPr indent="0" marL="0">
              <a:buNone/>
            </a:pPr>
            <a:r>
              <a:rPr lang="en-US" sz="1500" b="1" dirty="0">
                <a:solidFill>
                  <a:schemeClr val="tx2"/>
                </a:solidFill>
              </a:rPr>
              <a:t>Envelope</a:t>
            </a:r>
            <a:endParaRPr lang="en-US" sz="1500" dirty="0"/>
          </a:p>
        </p:txBody>
      </p:sp>
      <p:sp>
        <p:nvSpPr>
          <p:cNvPr id="5" name="Envelope body"/>
          <p:cNvSpPr txBox="1"/>
          <p:nvPr/>
        </p:nvSpPr>
        <p:spPr>
          <a:xfrm>
            <a:off x="713232" y="1691640"/>
            <a:ext cx="3328416" cy="4434840"/>
          </a:xfrm>
          <a:prstGeom prst="rect">
            <a:avLst/>
          </a:prstGeom>
          <a:noFill/>
          <a:ln/>
        </p:spPr>
        <p:txBody>
          <a:bodyPr wrap="square" lIns="0" tIns="0" rIns="0" bIns="0" rtlCol="0" anchor="t"/>
          <a:lstStyle/>
          <a:p>
            <a:pPr indent="0" marL="0">
              <a:buNone/>
            </a:pPr>
            <a:r>
              <a:rPr lang="en-US" sz="1300" dirty="0">
                <a:solidFill>
                  <a:schemeClr val="tx1"/>
                </a:solidFill>
              </a:rPr>
              <a:t>Bucket cis-nxt-gen-data-qa (account 981971132015), prefix to be named. One ZIP per chart: &lt;chart_id&gt;.pdf + &lt;chart_id&gt;.json. S3 event to SQS or SNS. Re-sends allowed: same chart_id, new version kept. Out: one results JSON per chart received, always, including 'not processed, reason X'. At coder time: Explain API. Coder decisions back with a reason code.</a:t>
            </a:r>
            <a:endParaRPr lang="en-US" sz="1300" dirty="0"/>
          </a:p>
        </p:txBody>
      </p:sp>
      <p:sp>
        <p:nvSpPr>
          <p:cNvPr id="6" name="Must-have fields (from the extraction requirements) — status in real exports today"/>
          <p:cNvSpPr/>
          <p:nvPr/>
        </p:nvSpPr>
        <p:spPr>
          <a:xfrm>
            <a:off x="4480560" y="1188720"/>
            <a:ext cx="7132320" cy="5029200"/>
          </a:xfrm>
          <a:prstGeom prst="roundRect">
            <a:avLst>
              <a:gd name="adj" fmla="val 1455"/>
            </a:avLst>
          </a:prstGeom>
          <a:solidFill>
            <a:srgbClr val="FFFFFF"/>
          </a:solidFill>
          <a:ln w="12700">
            <a:solidFill>
              <a:srgbClr val="FFFFFF"/>
            </a:solidFill>
            <a:prstDash val="solid"/>
          </a:ln>
          <a:effectLst>
            <a:outerShdw sx="100000" sy="100000" kx="0" ky="0" algn="bl" rotWithShape="0" blurRad="76200" dist="25400" dir="5400000">
              <a:srgbClr val="1F2A5C">
                <a:alpha val="12000"/>
              </a:srgbClr>
            </a:outerShdw>
          </a:effectLst>
        </p:spPr>
      </p:sp>
      <p:sp>
        <p:nvSpPr>
          <p:cNvPr id="7" name="Must-have fields (from the extraction requirements) — status in real exports today head"/>
          <p:cNvSpPr txBox="1"/>
          <p:nvPr/>
        </p:nvSpPr>
        <p:spPr>
          <a:xfrm>
            <a:off x="4645152" y="1298448"/>
            <a:ext cx="6803136" cy="365760"/>
          </a:xfrm>
          <a:prstGeom prst="rect">
            <a:avLst/>
          </a:prstGeom>
          <a:noFill/>
          <a:ln/>
        </p:spPr>
        <p:txBody>
          <a:bodyPr wrap="square" lIns="0" tIns="0" rIns="0" bIns="0" rtlCol="0" anchor="ctr"/>
          <a:lstStyle/>
          <a:p>
            <a:pPr indent="0" marL="0">
              <a:buNone/>
            </a:pPr>
            <a:r>
              <a:rPr lang="en-US" sz="1500" b="1" dirty="0">
                <a:solidFill>
                  <a:schemeClr val="tx2"/>
                </a:solidFill>
              </a:rPr>
              <a:t>Must-have fields (from the extraction requirements) — status in real exports today</a:t>
            </a:r>
            <a:endParaRPr lang="en-US" sz="1500" dirty="0"/>
          </a:p>
        </p:txBody>
      </p:sp>
      <p:sp>
        <p:nvSpPr>
          <p:cNvPr id="8" name="Must-have fields (from the extraction requirements) — status in real exports today body"/>
          <p:cNvSpPr txBox="1"/>
          <p:nvPr/>
        </p:nvSpPr>
        <p:spPr>
          <a:xfrm>
            <a:off x="4645152" y="1691640"/>
            <a:ext cx="6803136" cy="4434840"/>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Chart: mode, facility type, payer, HCC model version, attending NPI — absent today.</a:t>
            </a:r>
            <a:endParaRPr lang="en-US" sz="1300" dirty="0"/>
          </a:p>
          <a:p>
            <a:pPr indent="0" marL="0">
              <a:spcAft>
                <a:spcPts val="500"/>
              </a:spcAft>
              <a:buNone/>
            </a:pPr>
            <a:r>
              <a:rPr lang="en-US" sz="1300" dirty="0">
                <a:solidFill>
                  <a:schemeClr val="tx1"/>
                </a:solidFill>
              </a:rPr>
              <a:t>Note: signer + credential, co-signature, signature vs service time, addenda — absent today (the single largest gap).</a:t>
            </a:r>
            <a:endParaRPr lang="en-US" sz="1300" dirty="0"/>
          </a:p>
          <a:p>
            <a:pPr indent="0" marL="0">
              <a:spcAft>
                <a:spcPts val="500"/>
              </a:spcAft>
              <a:buNone/>
            </a:pPr>
            <a:r>
              <a:rPr lang="en-US" sz="1300" dirty="0">
                <a:solidFill>
                  <a:schemeClr val="tx1"/>
                </a:solidFill>
              </a:rPr>
              <a:t>Mention: every entity, not only coded ones; page + character offsets — section-level only today; six assertion states — three flags today; severity/stage — free text today; confidence 0–1 — values −1 to 412 seen.</a:t>
            </a:r>
            <a:endParaRPr lang="en-US" sz="1300" dirty="0"/>
          </a:p>
          <a:p>
            <a:pPr indent="0" marL="0">
              <a:spcAft>
                <a:spcPts val="500"/>
              </a:spcAft>
              <a:buNone/>
            </a:pPr>
            <a:r>
              <a:rPr lang="en-US" sz="1300" dirty="0">
                <a:solidFill>
                  <a:schemeClr val="tx1"/>
                </a:solidFill>
              </a:rPr>
              <a:t>Codes: full specificity — category level today; CPT / ICD-10-PCS — never present; all candidates with confidence — one winner today.</a:t>
            </a:r>
            <a:endParaRPr lang="en-US" sz="1300" dirty="0"/>
          </a:p>
          <a:p>
            <a:pPr indent="0" marL="0">
              <a:spcAft>
                <a:spcPts val="500"/>
              </a:spcAft>
              <a:buNone/>
            </a:pPr>
            <a:r>
              <a:rPr lang="en-US" sz="1300" dirty="0">
                <a:solidFill>
                  <a:schemeClr val="tx1"/>
                </a:solidFill>
              </a:rPr>
              <a:t>Relationships (TREATS, EVALUATES, …) — not seen in any export. MEAT evidence — where tracked.</a:t>
            </a:r>
            <a:endParaRPr lang="en-US" sz="1300" dirty="0"/>
          </a:p>
          <a:p>
            <a:pPr indent="0" marL="0">
              <a:buNone/>
            </a:pPr>
            <a:r>
              <a:rPr lang="en-US" sz="1300" dirty="0">
                <a:solidFill>
                  <a:schemeClr val="tx1"/>
                </a:solidFill>
              </a:rPr>
              <a:t>Ask of CIS per field: present / can add / not available. First step: one sample ZIP.</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lstStyle/>
          <a:p>
            <a:pPr algn="l" indent="0" marL="0">
              <a:buNone/>
            </a:pPr>
            <a:r>
              <a:rPr lang="en-US" sz="2600" dirty="0">
                <a:solidFill>
                  <a:schemeClr val="tx1"/>
                </a:solidFill>
              </a:rPr>
              <a:t>Policy lane: PRM is the store of record, the hub keeps the copy</a:t>
            </a:r>
            <a:endParaRPr lang="en-US" sz="2600" dirty="0"/>
          </a:p>
        </p:txBody>
      </p:sp>
      <p:graphicFrame>
        <p:nvGraphicFramePr>
          <p:cNvPr id="13" name="policy"/>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1554480"/>
                <a:gridCol w="6766560"/>
                <a:gridCol w="2743200"/>
              </a:tblGrid>
              <a:tr h="457200">
                <a:tc>
                  <a:txBody>
                    <a:bodyPr/>
                    <a:lstStyle/>
                    <a:p>
                      <a:pPr indent="0" marL="0">
                        <a:buNone/>
                      </a:pPr>
                      <a:r>
                        <a:rPr lang="en-US" sz="1150" b="1" dirty="0">
                          <a:solidFill>
                            <a:srgbClr val="1F2A5C"/>
                          </a:solidFill>
                        </a:rPr>
                        <a:t>Step</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5C"/>
                          </a:solidFill>
                        </a:rPr>
                        <a:t>What happens</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b="1" dirty="0">
                          <a:solidFill>
                            <a:srgbClr val="1F2A5C"/>
                          </a:solidFill>
                        </a:rPr>
                        <a:t>Where</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1F2A5C"/>
                          </a:solidFill>
                        </a:rPr>
                        <a:t>A · Register</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A guideline PDF (or bundle) goes into PRM through its API</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PRM (Agentic Hub platform: Postgres + S3 + API)</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1F2A5C"/>
                          </a:solidFill>
                        </a:rPr>
                        <a:t>B · Draft</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A policy-to-logic job builds the rules: Textract + LLM, hours</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P2L job, Agentic Hub account</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1F2A5C"/>
                          </a:solidFill>
                        </a:rPr>
                        <a:t>C · Store</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PRM keeps an unchangeable snapshot with a digest; rules carry fingerprints</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PRM</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1F2A5C"/>
                          </a:solidFill>
                        </a:rPr>
                        <a:t>D · Quality checks</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Failures to engineering; the rest to coders</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PRM</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1F2A5C"/>
                          </a:solidFill>
                        </a:rPr>
                        <a:t>E · Review</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Coders approve / minor edits / revise / reject in CIS's rule review app, via PRM's API; a verdict binds to one fingerprint</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CIS screen → PRM API</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1F2A5C"/>
                          </a:solidFill>
                        </a:rPr>
                        <a:t>F · Revise</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New snapshot; only changed rules return to coders</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P2L + PRM</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1F2A5C"/>
                          </a:solidFill>
                        </a:rPr>
                        <a:t>G · Promote</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Second sign-off; PRM marks the active ruleset (tenant, payer, LOB, DOS period)</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PRM</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1F2A5C"/>
                          </a:solidFill>
                        </a:rPr>
                        <a:t>H · Use</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The auditor fetches the active ruleset and compiled rules</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PRM API → auditor</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r h="457200">
                <a:tc>
                  <a:txBody>
                    <a:bodyPr/>
                    <a:lstStyle/>
                    <a:p>
                      <a:pPr indent="0" marL="0">
                        <a:buNone/>
                      </a:pPr>
                      <a:r>
                        <a:rPr lang="en-US" sz="1150" dirty="0">
                          <a:solidFill>
                            <a:srgbClr val="1F2A5C"/>
                          </a:solidFill>
                        </a:rPr>
                        <a:t>Hub</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Nightly copy of PRM's records into lake tables (Stream H, after PRM's schema is frozen; manual export first); replay and regression on every promotion</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c>
                  <a:txBody>
                    <a:bodyPr/>
                    <a:lstStyle/>
                    <a:p>
                      <a:pPr indent="0" marL="0">
                        <a:buNone/>
                      </a:pPr>
                      <a:r>
                        <a:rPr lang="en-US" sz="1150" dirty="0">
                          <a:solidFill>
                            <a:srgbClr val="1F2A5C"/>
                          </a:solidFill>
                        </a:rPr>
                        <a:t>Data hub</a:t>
                      </a:r>
                      <a:endParaRPr lang="en-US" sz="1150" dirty="0"/>
                    </a:p>
                  </a:txBody>
                  <a:tcPr marL="45720" marR="45720" marT="45720" marB="45720">
                    <a:lnL w="9525" cap="flat" cmpd="sng" algn="ctr">
                      <a:solidFill>
                        <a:srgbClr val="D7DEE3"/>
                      </a:solidFill>
                      <a:prstDash val="solid"/>
                      <a:round/>
                      <a:headEnd type="none" w="med" len="med"/>
                      <a:tailEnd type="none" w="med" len="med"/>
                    </a:lnL>
                    <a:lnR w="9525" cap="flat" cmpd="sng" algn="ctr">
                      <a:solidFill>
                        <a:srgbClr val="D7DEE3"/>
                      </a:solidFill>
                      <a:prstDash val="solid"/>
                      <a:round/>
                      <a:headEnd type="none" w="med" len="med"/>
                      <a:tailEnd type="none" w="med" len="med"/>
                    </a:lnR>
                    <a:lnT w="9525" cap="flat" cmpd="sng" algn="ctr">
                      <a:solidFill>
                        <a:srgbClr val="D7DEE3"/>
                      </a:solidFill>
                      <a:prstDash val="solid"/>
                      <a:round/>
                      <a:headEnd type="none" w="med" len="med"/>
                      <a:tailEnd type="none" w="med" len="med"/>
                    </a:lnT>
                    <a:lnB w="9525" cap="flat" cmpd="sng" algn="ctr">
                      <a:solidFill>
                        <a:srgbClr val="D7DEE3"/>
                      </a:solidFill>
                      <a:prstDash val="solid"/>
                      <a:round/>
                      <a:headEnd type="none" w="med" len="med"/>
                      <a:tailEnd type="none" w="med" len="med"/>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Cotiviti">
  <a:themeElements>
    <a:clrScheme name="Cotiviti">
      <a:dk1>
        <a:srgbClr val="1F2A5C"/>
      </a:dk1>
      <a:lt1>
        <a:srgbClr val="FFFFFF"/>
      </a:lt1>
      <a:dk2>
        <a:srgbClr val="1F2A5C"/>
      </a:dk2>
      <a:lt2>
        <a:srgbClr val="F4F7FA"/>
      </a:lt2>
      <a:accent1>
        <a:srgbClr val="1F2A5C"/>
      </a:accent1>
      <a:accent2>
        <a:srgbClr val="E0457B"/>
      </a:accent2>
      <a:accent3>
        <a:srgbClr val="5B6FB5"/>
      </a:accent3>
      <a:accent4>
        <a:srgbClr val="6B7280"/>
      </a:accent4>
      <a:accent5>
        <a:srgbClr val="9B1C1C"/>
      </a:accent5>
      <a:accent6>
        <a:srgbClr val="C9D3E6"/>
      </a:accent6>
      <a:hlink>
        <a:srgbClr val="1F2A5C"/>
      </a:hlink>
      <a:folHlink>
        <a:srgbClr val="E0457B"/>
      </a:folHlink>
    </a:clrScheme>
    <a:fontScheme name="Cotiviti">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ARIA data hub — design review</dc:title>
  <dc:subject>PptxGenJS Presentation</dc:subject>
  <dc:creator>Amit Prasad</dc:creator>
  <cp:lastModifiedBy>Amit Prasad</cp:lastModifiedBy>
  <cp:revision>1</cp:revision>
  <dcterms:created xsi:type="dcterms:W3CDTF">2026-10-22T21:39:46Z</dcterms:created>
  <dcterms:modified xsi:type="dcterms:W3CDTF">2026-10-22T21:39:46Z</dcterms:modified>
</cp:coreProperties>
</file>